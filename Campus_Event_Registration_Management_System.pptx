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examiners, good morning. I am Tamilzhniyan K., register number URK24CS1140 from the Department of Computer Science and Engineering at Karunya University. Today, I present my Web Technology capstone project: the Campus Event Registration and Management System, built with the MERN stack.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what the Campus Event Registration and Management System achieves. It replaces paper notices and spreadsheets with a clean digital portal connecting students and faculty. The diagram demonstrates the 5-step lifecycle from student discovery to atomic database writes and administrative CSV exports.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the core bottlenecks of current campus processes: lack of capacity enforcement causing overbooking, duplicate student submissions, scattered discovery, and manual attendance reconciliation. Our project directly solves each of these vulnerabilities through software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accomplished six key engineering objectives: centralizing event listings, guaranteeing atomic seat capacity reservation, preventing duplicate registrations via unique indexes, implementing stateless JWT authentication, providing faculty administration with CSV export, and delivering a responsive React user interface.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details the functional breakdown. The student portal focuses on frictionless discovery, atomic reservation, and booking history. The faculty administration panel gives organizers complete control: editing event dates, monitoring capacity bars, inspecting student rosters, and downloading CSV reports.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technical foundation: React 18 with Vite for frontend, Node.js and Express.js for the REST API backend, MongoDB with Mongoose 8 for data modeling, and bcrypt with JWT for security. Each technology was selected for performance, reliability, and academic rigor.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shows our 3-Tier Architecture. The client tier executes in the browser using React and Axios. Requests travel over HTTP to the Express backend tier, where security, authentication, and validation middleware process requests. Finally, controllers communicate with MongoDB using Mongoose schemas and atomic operators.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MongoDB database is named campus_events and has three collections: users, events, and registrations. We use Mongoose virtuals for remainingSeats calculation, and compound unique indexes to guarantee that no student can hold multiple active registrations for the same event.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genuine screenshots captured directly from our running React application. On the left is the university landing page with hero banner and platform statistics. On the right is the events explorer showing category filter pills, keyword search, and dynamic seat capacity progress bars.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our atomic registration workflow. When a student clicks Register, our backend executes a conditional update checking that current count is strictly less than capacity. This guarantees no two students can take the same remaining seat. On the left is the live event details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shows actual screenshots of our Administrator Console. The left image demonstrates the KPI dashboard displaying total events, student accounts, and confirmed bookings. The right image shows the event creation form with validation rules enforcing that registration deadlines precede event dates.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RESTful API endpoint architecture. Routes are organized into four resources: authentication, events, registrations, and administrative reporting. All private routes are guarded by JWT verification and role authorization middleware.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outlines our security architecture. We never rely solely on frontend validation. Every request is re-validated on the server with express-validator. Passwords use bcrypt with 10 salt rounds, sessions use stateless JWTs, and Helmet secures HTTP headers.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14, we demonstrate data persistence in MongoDB. Event records and registration records are stored separately for referential integrity. On the left is the live attendee roster. The compound unique index guarantees that registeredCount and actual registration documents remain 100% synchronized.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shows our rigorous testing methodology. We executed 21 automated integration tests via backend/test/api.test.js with a 100% pass rate. We verified duplicate rejection, role authorization blocking, atomic increment, cancellation decrement, and CSV downloads.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details version control and deployment. Our GitHub repository is Tamil-k-iniyan/Campus-Event-Registration-. The frontend deploys via GitHub Actions, and the repository includes a render.yaml blueprint for deploying the Express API to Render with MongoDB Atlas.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forward, we have identified high-value enhancements for campus deployment: contactless QR-code ticket scanning at venue doors, automated waitlist queues, automatic PDF participation certificates, and calendar synchronization.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the Campus Event Registration and Management System successfully demonstrates how full-stack web engineering solves real campus logistical problems. Thank you for your time and guidance. I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37160" cy="43891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822960"/>
            <a:ext cx="10058400" cy="2011680"/>
          </a:xfrm>
          <a:prstGeom prst="rect">
            <a:avLst/>
          </a:prstGeom>
          <a:noFill/>
        </p:spPr>
        <p:txBody>
          <a:bodyPr wrap="square">
            <a:spAutoFit/>
          </a:bodyPr>
          <a:lstStyle/>
          <a:p>
            <a:pPr>
              <a:defRPr sz="1300" b="1">
                <a:solidFill>
                  <a:srgbClr val="38BDF8"/>
                </a:solidFill>
              </a:defRPr>
            </a:pPr>
            <a:r>
              <a:t>WEB TECHNOLOGY CAPSTONE PROJECT</a:t>
            </a:r>
          </a:p>
          <a:p>
            <a:pPr>
              <a:defRPr sz="3600" b="1">
                <a:solidFill>
                  <a:srgbClr val="FFFFFF"/>
                </a:solidFill>
              </a:defRPr>
            </a:pPr>
            <a:r>
              <a:t>Campus Event Registration and</a:t>
            </a:r>
            <a:br/>
            <a:r>
              <a:t>Management System</a:t>
            </a:r>
          </a:p>
          <a:p>
            <a:pPr>
              <a:defRPr sz="1500">
                <a:solidFill>
                  <a:srgbClr val="CBD5E1"/>
                </a:solidFill>
              </a:defRPr>
            </a:pPr>
            <a:r>
              <a:t>A Modern Full-Stack MERN Platform with Concurrency-Safe Atomic Reservations</a:t>
            </a:r>
          </a:p>
        </p:txBody>
      </p:sp>
      <p:sp>
        <p:nvSpPr>
          <p:cNvPr id="5" name="Rounded Rectangle 4"/>
          <p:cNvSpPr/>
          <p:nvPr/>
        </p:nvSpPr>
        <p:spPr>
          <a:xfrm>
            <a:off x="1097280" y="3291840"/>
            <a:ext cx="9875520" cy="2194560"/>
          </a:xfrm>
          <a:prstGeom prst="roundRect">
            <a:avLst/>
          </a:prstGeom>
          <a:solidFill>
            <a:srgbClr val="1E293B"/>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3429000"/>
            <a:ext cx="9326880" cy="1920240"/>
          </a:xfrm>
          <a:prstGeom prst="rect">
            <a:avLst/>
          </a:prstGeom>
          <a:noFill/>
        </p:spPr>
        <p:txBody>
          <a:bodyPr wrap="square">
            <a:spAutoFit/>
          </a:bodyPr>
          <a:lstStyle/>
          <a:p>
            <a:r>
              <a:rPr b="1" sz="1300">
                <a:solidFill>
                  <a:srgbClr val="94A3B8"/>
                </a:solidFill>
              </a:rPr>
              <a:t>Candidate Name:  </a:t>
            </a:r>
            <a:r>
              <a:rPr b="1" sz="1350">
                <a:solidFill>
                  <a:srgbClr val="FFFFFF"/>
                </a:solidFill>
              </a:rPr>
              <a:t>Tamilzhniyan K.</a:t>
            </a:r>
          </a:p>
          <a:p>
            <a:r>
              <a:rPr b="1" sz="1300">
                <a:solidFill>
                  <a:srgbClr val="94A3B8"/>
                </a:solidFill>
              </a:rPr>
              <a:t>Register / Roll Number:  </a:t>
            </a:r>
            <a:r>
              <a:rPr b="1" sz="1350">
                <a:solidFill>
                  <a:srgbClr val="FFFFFF"/>
                </a:solidFill>
              </a:rPr>
              <a:t>URK24CS1140</a:t>
            </a:r>
          </a:p>
          <a:p>
            <a:r>
              <a:rPr b="1" sz="1300">
                <a:solidFill>
                  <a:srgbClr val="94A3B8"/>
                </a:solidFill>
              </a:rPr>
              <a:t>Department &amp; Branch:  </a:t>
            </a:r>
            <a:r>
              <a:rPr b="1" sz="1350">
                <a:solidFill>
                  <a:srgbClr val="FFFFFF"/>
                </a:solidFill>
              </a:rPr>
              <a:t>B.Tech in Computer Science and Engineering</a:t>
            </a:r>
          </a:p>
          <a:p>
            <a:r>
              <a:rPr b="1" sz="1300">
                <a:solidFill>
                  <a:srgbClr val="94A3B8"/>
                </a:solidFill>
              </a:rPr>
              <a:t>Institution:  </a:t>
            </a:r>
            <a:r>
              <a:rPr b="1" sz="1350">
                <a:solidFill>
                  <a:srgbClr val="FFFFFF"/>
                </a:solidFill>
              </a:rPr>
              <a:t>Karunya University  |  Academic Year 2026</a:t>
            </a:r>
          </a:p>
          <a:p>
            <a:r>
              <a:rPr b="1" sz="1300">
                <a:solidFill>
                  <a:srgbClr val="94A3B8"/>
                </a:solidFill>
              </a:rPr>
              <a:t>GitHub Repository:  </a:t>
            </a:r>
            <a:r>
              <a:rPr b="1" sz="1350">
                <a:solidFill>
                  <a:srgbClr val="FFFFFF"/>
                </a:solidFill>
              </a:rPr>
              <a:t>https://github.com/Tamil-k-iniyan/Campus-Event-Registration-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CONTEXT &amp; SIGNIFICANCE</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Project Overview: Unified Campus Event Ecosystem</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12064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4572000" cy="4389120"/>
          </a:xfrm>
          <a:prstGeom prst="rect">
            <a:avLst/>
          </a:prstGeom>
          <a:noFill/>
        </p:spPr>
        <p:txBody>
          <a:bodyPr wrap="square">
            <a:spAutoFit/>
          </a:bodyPr>
          <a:lstStyle/>
          <a:p>
            <a:pPr>
              <a:defRPr sz="2000" b="1">
                <a:solidFill>
                  <a:srgbClr val="1D4ED8"/>
                </a:solidFill>
              </a:defRPr>
            </a:pPr>
            <a:r>
              <a:t>What is CampusEvents?</a:t>
            </a:r>
          </a:p>
          <a:p>
            <a:pPr>
              <a:spcBef>
                <a:spcPts val="1200"/>
              </a:spcBef>
            </a:pPr>
            <a:r>
              <a:rPr b="1" sz="1250">
                <a:solidFill>
                  <a:srgbClr val="0F172A"/>
                </a:solidFill>
              </a:rPr>
              <a:t>• Centralized Digital Portal: </a:t>
            </a:r>
            <a:r>
              <a:rPr sz="1200">
                <a:solidFill>
                  <a:srgbClr val="64748B"/>
                </a:solidFill>
              </a:rPr>
              <a:t>Replaces disorganized WhatsApp posters, physical flyers, and disconnected Google Forms with one official hub.</a:t>
            </a:r>
          </a:p>
          <a:p>
            <a:pPr>
              <a:spcBef>
                <a:spcPts val="1200"/>
              </a:spcBef>
            </a:pPr>
            <a:r>
              <a:rPr b="1" sz="1250">
                <a:solidFill>
                  <a:srgbClr val="0F172A"/>
                </a:solidFill>
              </a:rPr>
              <a:t>• Two Segregated Roles: </a:t>
            </a:r>
            <a:r>
              <a:rPr sz="1200">
                <a:solidFill>
                  <a:srgbClr val="64748B"/>
                </a:solidFill>
              </a:rPr>
              <a:t>Role-Based Access Control dividing Student Attendees from Faculty Event Administrators.</a:t>
            </a:r>
          </a:p>
          <a:p>
            <a:pPr>
              <a:spcBef>
                <a:spcPts val="1200"/>
              </a:spcBef>
            </a:pPr>
            <a:r>
              <a:rPr b="1" sz="1250">
                <a:solidFill>
                  <a:srgbClr val="0F172A"/>
                </a:solidFill>
              </a:rPr>
              <a:t>• Real-Time Capacity Gauges: </a:t>
            </a:r>
            <a:r>
              <a:rPr sz="1200">
                <a:solidFill>
                  <a:srgbClr val="64748B"/>
                </a:solidFill>
              </a:rPr>
              <a:t>Students immediately see live remaining seats before attempting registration.</a:t>
            </a:r>
          </a:p>
          <a:p>
            <a:pPr>
              <a:spcBef>
                <a:spcPts val="1200"/>
              </a:spcBef>
            </a:pPr>
            <a:r>
              <a:rPr b="1" sz="1250">
                <a:solidFill>
                  <a:srgbClr val="0F172A"/>
                </a:solidFill>
              </a:rPr>
              <a:t>• Instant Self-Service: </a:t>
            </a:r>
            <a:r>
              <a:rPr sz="1200">
                <a:solidFill>
                  <a:srgbClr val="64748B"/>
                </a:solidFill>
              </a:rPr>
              <a:t>One-click registration, instant cancellation before start time, and downloadable CSV rosters for faculty.</a:t>
            </a:r>
          </a:p>
        </p:txBody>
      </p:sp>
      <p:sp>
        <p:nvSpPr>
          <p:cNvPr id="9" name="Rounded Rectangle 8"/>
          <p:cNvSpPr/>
          <p:nvPr/>
        </p:nvSpPr>
        <p:spPr>
          <a:xfrm>
            <a:off x="62179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663440" cy="4389120"/>
          </a:xfrm>
          <a:prstGeom prst="rect">
            <a:avLst/>
          </a:prstGeom>
          <a:noFill/>
        </p:spPr>
        <p:txBody>
          <a:bodyPr wrap="square">
            <a:spAutoFit/>
          </a:bodyPr>
          <a:lstStyle/>
          <a:p>
            <a:pPr>
              <a:defRPr sz="2000" b="1">
                <a:solidFill>
                  <a:srgbClr val="059669"/>
                </a:solidFill>
              </a:defRPr>
            </a:pPr>
            <a:r>
              <a:t>System Interaction Flow</a:t>
            </a:r>
          </a:p>
          <a:p>
            <a:pPr>
              <a:spcBef>
                <a:spcPts val="1000"/>
              </a:spcBef>
            </a:pPr>
            <a:r>
              <a:rPr b="1" sz="1250">
                <a:solidFill>
                  <a:srgbClr val="1D4ED8"/>
                </a:solidFill>
              </a:rPr>
              <a:t>1. Student User
</a:t>
            </a:r>
            <a:r>
              <a:rPr sz="1150">
                <a:solidFill>
                  <a:srgbClr val="64748B"/>
                </a:solidFill>
              </a:rPr>
              <a:t>Discovers hackathons, workshops, and sports meets. Submits booking with optional special notes.</a:t>
            </a:r>
          </a:p>
          <a:p>
            <a:pPr>
              <a:spcBef>
                <a:spcPts val="1000"/>
              </a:spcBef>
            </a:pPr>
            <a:r>
              <a:rPr b="1" sz="1250">
                <a:solidFill>
                  <a:srgbClr val="1D4ED8"/>
                </a:solidFill>
              </a:rPr>
              <a:t>2. React Client (Vite)
</a:t>
            </a:r>
            <a:r>
              <a:rPr sz="1150">
                <a:solidFill>
                  <a:srgbClr val="64748B"/>
                </a:solidFill>
              </a:rPr>
              <a:t>Dispatches asynchronous requests with JWT Bearer tokens to REST endpoints.</a:t>
            </a:r>
          </a:p>
          <a:p>
            <a:pPr>
              <a:spcBef>
                <a:spcPts val="1000"/>
              </a:spcBef>
            </a:pPr>
            <a:r>
              <a:rPr b="1" sz="1250">
                <a:solidFill>
                  <a:srgbClr val="1D4ED8"/>
                </a:solidFill>
              </a:rPr>
              <a:t>3. Express.js Server
</a:t>
            </a:r>
            <a:r>
              <a:rPr sz="1150">
                <a:solidFill>
                  <a:srgbClr val="64748B"/>
                </a:solidFill>
              </a:rPr>
              <a:t>Validates inputs, sanitizes data, and executes atomic conditional seat increments.</a:t>
            </a:r>
          </a:p>
          <a:p>
            <a:pPr>
              <a:spcBef>
                <a:spcPts val="1000"/>
              </a:spcBef>
            </a:pPr>
            <a:r>
              <a:rPr b="1" sz="1250">
                <a:solidFill>
                  <a:srgbClr val="1D4ED8"/>
                </a:solidFill>
              </a:rPr>
              <a:t>4. MongoDB Database
</a:t>
            </a:r>
            <a:r>
              <a:rPr sz="1150">
                <a:solidFill>
                  <a:srgbClr val="64748B"/>
                </a:solidFill>
              </a:rPr>
              <a:t>Stores persistent User profiles, Event catalogs, and Unique Registration records.</a:t>
            </a:r>
          </a:p>
          <a:p>
            <a:pPr>
              <a:spcBef>
                <a:spcPts val="1000"/>
              </a:spcBef>
            </a:pPr>
            <a:r>
              <a:rPr b="1" sz="1250">
                <a:solidFill>
                  <a:srgbClr val="1D4ED8"/>
                </a:solidFill>
              </a:rPr>
              <a:t>5. Faculty Admin
</a:t>
            </a:r>
            <a:r>
              <a:rPr sz="1150">
                <a:solidFill>
                  <a:srgbClr val="64748B"/>
                </a:solidFill>
              </a:rPr>
              <a:t>Monitors capacity utilization, reviews attendee rosters, and exports CSV reports.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PROBLEM ANALYSIS</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Problem Statement: Challenges in Legacy Event Management</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109728" cy="2194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508760"/>
            <a:ext cx="4754880" cy="1920240"/>
          </a:xfrm>
          <a:prstGeom prst="rect">
            <a:avLst/>
          </a:prstGeom>
          <a:noFill/>
        </p:spPr>
        <p:txBody>
          <a:bodyPr wrap="square">
            <a:spAutoFit/>
          </a:bodyPr>
          <a:lstStyle/>
          <a:p>
            <a:pPr>
              <a:defRPr sz="1500" b="1">
                <a:solidFill>
                  <a:srgbClr val="0F172A"/>
                </a:solidFill>
              </a:defRPr>
            </a:pPr>
            <a:r>
              <a:t>Paper &amp; Google Forms Vulnerabilities</a:t>
            </a:r>
          </a:p>
          <a:p>
            <a:pPr>
              <a:spcBef>
                <a:spcPts val="600"/>
              </a:spcBef>
              <a:defRPr sz="1200">
                <a:solidFill>
                  <a:srgbClr val="64748B"/>
                </a:solidFill>
              </a:defRPr>
            </a:pPr>
            <a:r>
              <a:t>Traditional forms lack atomic capacity validation. When 50 students apply for 30 seats simultaneously, overbooking occurs, causing chaos at the venue.</a:t>
            </a:r>
          </a:p>
        </p:txBody>
      </p:sp>
      <p:sp>
        <p:nvSpPr>
          <p:cNvPr id="10" name="Rounded Rectangle 9"/>
          <p:cNvSpPr/>
          <p:nvPr/>
        </p:nvSpPr>
        <p:spPr>
          <a:xfrm>
            <a:off x="6217920" y="13716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371600"/>
            <a:ext cx="109728" cy="2194560"/>
          </a:xfrm>
          <a:prstGeom prst="rect">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508760"/>
            <a:ext cx="4754880" cy="1920240"/>
          </a:xfrm>
          <a:prstGeom prst="rect">
            <a:avLst/>
          </a:prstGeom>
          <a:noFill/>
        </p:spPr>
        <p:txBody>
          <a:bodyPr wrap="square">
            <a:spAutoFit/>
          </a:bodyPr>
          <a:lstStyle/>
          <a:p>
            <a:pPr>
              <a:defRPr sz="1500" b="1">
                <a:solidFill>
                  <a:srgbClr val="0F172A"/>
                </a:solidFill>
              </a:defRPr>
            </a:pPr>
            <a:r>
              <a:t>Duplicate Registration Submissions</a:t>
            </a:r>
          </a:p>
          <a:p>
            <a:pPr>
              <a:spcBef>
                <a:spcPts val="600"/>
              </a:spcBef>
              <a:defRPr sz="1200">
                <a:solidFill>
                  <a:srgbClr val="64748B"/>
                </a:solidFill>
              </a:defRPr>
            </a:pPr>
            <a:r>
              <a:t>Without database-level unique compound keys, students register multiple times under different names, corrupting attendance records.</a:t>
            </a:r>
          </a:p>
        </p:txBody>
      </p:sp>
      <p:sp>
        <p:nvSpPr>
          <p:cNvPr id="13" name="Rounded Rectangle 12"/>
          <p:cNvSpPr/>
          <p:nvPr/>
        </p:nvSpPr>
        <p:spPr>
          <a:xfrm>
            <a:off x="731520" y="384048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840480"/>
            <a:ext cx="109728"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77640"/>
            <a:ext cx="4754880" cy="1920240"/>
          </a:xfrm>
          <a:prstGeom prst="rect">
            <a:avLst/>
          </a:prstGeom>
          <a:noFill/>
        </p:spPr>
        <p:txBody>
          <a:bodyPr wrap="square">
            <a:spAutoFit/>
          </a:bodyPr>
          <a:lstStyle/>
          <a:p>
            <a:pPr>
              <a:defRPr sz="1500" b="1">
                <a:solidFill>
                  <a:srgbClr val="0F172A"/>
                </a:solidFill>
              </a:defRPr>
            </a:pPr>
            <a:r>
              <a:t>Zero Visibility &amp; Missed Deadlines</a:t>
            </a:r>
          </a:p>
          <a:p>
            <a:pPr>
              <a:spcBef>
                <a:spcPts val="600"/>
              </a:spcBef>
              <a:defRPr sz="1200">
                <a:solidFill>
                  <a:srgbClr val="64748B"/>
                </a:solidFill>
              </a:defRPr>
            </a:pPr>
            <a:r>
              <a:t>Notices are scattered on bulletin boards and social media groups. Students miss deadlines and remaining seat counts are invisible.</a:t>
            </a:r>
          </a:p>
        </p:txBody>
      </p:sp>
      <p:sp>
        <p:nvSpPr>
          <p:cNvPr id="16" name="Rounded Rectangle 15"/>
          <p:cNvSpPr/>
          <p:nvPr/>
        </p:nvSpPr>
        <p:spPr>
          <a:xfrm>
            <a:off x="6217920" y="384048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840480"/>
            <a:ext cx="109728" cy="2194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977640"/>
            <a:ext cx="4754880" cy="1920240"/>
          </a:xfrm>
          <a:prstGeom prst="rect">
            <a:avLst/>
          </a:prstGeom>
          <a:noFill/>
        </p:spPr>
        <p:txBody>
          <a:bodyPr wrap="square">
            <a:spAutoFit/>
          </a:bodyPr>
          <a:lstStyle/>
          <a:p>
            <a:pPr>
              <a:defRPr sz="1500" b="1">
                <a:solidFill>
                  <a:srgbClr val="0F172A"/>
                </a:solidFill>
              </a:defRPr>
            </a:pPr>
            <a:r>
              <a:t>Severe Administrative Overhead</a:t>
            </a:r>
          </a:p>
          <a:p>
            <a:pPr>
              <a:spcBef>
                <a:spcPts val="600"/>
              </a:spcBef>
              <a:defRPr sz="1200">
                <a:solidFill>
                  <a:srgbClr val="64748B"/>
                </a:solidFill>
              </a:defRPr>
            </a:pPr>
            <a:r>
              <a:t>Faculty and student coordinators spend hours manually compiling attendance rosters and validating student roll numbers.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SCOPE &amp; GOALS</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Project Objectives: Engineering Goals &amp; Deliverables</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08760"/>
            <a:ext cx="4754880" cy="1188720"/>
          </a:xfrm>
          <a:prstGeom prst="rect">
            <a:avLst/>
          </a:prstGeom>
          <a:noFill/>
        </p:spPr>
        <p:txBody>
          <a:bodyPr wrap="square">
            <a:spAutoFit/>
          </a:bodyPr>
          <a:lstStyle/>
          <a:p>
            <a:pPr>
              <a:defRPr sz="1400" b="1">
                <a:solidFill>
                  <a:srgbClr val="1D4ED8"/>
                </a:solidFill>
              </a:defRPr>
            </a:pPr>
            <a:r>
              <a:t>1. Centralized Event Hub</a:t>
            </a:r>
          </a:p>
          <a:p>
            <a:pPr>
              <a:spcBef>
                <a:spcPts val="400"/>
              </a:spcBef>
              <a:defRPr sz="1100">
                <a:solidFill>
                  <a:srgbClr val="64748B"/>
                </a:solidFill>
              </a:defRPr>
            </a:pPr>
            <a:r>
              <a:t>Establish a single searchable catalog for academic seminars, hackathons, workshops, cultural galas, and athletic championships.</a:t>
            </a:r>
          </a:p>
        </p:txBody>
      </p:sp>
      <p:sp>
        <p:nvSpPr>
          <p:cNvPr id="9" name="Rounded Rectangle 8"/>
          <p:cNvSpPr/>
          <p:nvPr/>
        </p:nvSpPr>
        <p:spPr>
          <a:xfrm>
            <a:off x="6217920" y="137160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08760"/>
            <a:ext cx="4754880" cy="1188720"/>
          </a:xfrm>
          <a:prstGeom prst="rect">
            <a:avLst/>
          </a:prstGeom>
          <a:noFill/>
        </p:spPr>
        <p:txBody>
          <a:bodyPr wrap="square">
            <a:spAutoFit/>
          </a:bodyPr>
          <a:lstStyle/>
          <a:p>
            <a:pPr>
              <a:defRPr sz="1400" b="1">
                <a:solidFill>
                  <a:srgbClr val="1D4ED8"/>
                </a:solidFill>
              </a:defRPr>
            </a:pPr>
            <a:r>
              <a:t>2. Concurrency-Safe Booking</a:t>
            </a:r>
          </a:p>
          <a:p>
            <a:pPr>
              <a:spcBef>
                <a:spcPts val="400"/>
              </a:spcBef>
              <a:defRPr sz="1100">
                <a:solidFill>
                  <a:srgbClr val="64748B"/>
                </a:solidFill>
              </a:defRPr>
            </a:pPr>
            <a:r>
              <a:t>Implement atomic database reservation operators to eliminate overselling under simultaneous peak student registrations.</a:t>
            </a:r>
          </a:p>
        </p:txBody>
      </p:sp>
      <p:sp>
        <p:nvSpPr>
          <p:cNvPr id="11" name="Rounded Rectangle 10"/>
          <p:cNvSpPr/>
          <p:nvPr/>
        </p:nvSpPr>
        <p:spPr>
          <a:xfrm>
            <a:off x="731520" y="301752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54680"/>
            <a:ext cx="4754880" cy="1188720"/>
          </a:xfrm>
          <a:prstGeom prst="rect">
            <a:avLst/>
          </a:prstGeom>
          <a:noFill/>
        </p:spPr>
        <p:txBody>
          <a:bodyPr wrap="square">
            <a:spAutoFit/>
          </a:bodyPr>
          <a:lstStyle/>
          <a:p>
            <a:pPr>
              <a:defRPr sz="1400" b="1">
                <a:solidFill>
                  <a:srgbClr val="1D4ED8"/>
                </a:solidFill>
              </a:defRPr>
            </a:pPr>
            <a:r>
              <a:t>3. Duplicate Prevention</a:t>
            </a:r>
          </a:p>
          <a:p>
            <a:pPr>
              <a:spcBef>
                <a:spcPts val="400"/>
              </a:spcBef>
              <a:defRPr sz="1100">
                <a:solidFill>
                  <a:srgbClr val="64748B"/>
                </a:solidFill>
              </a:defRPr>
            </a:pPr>
            <a:r>
              <a:t>Enforce compound unique database indexing ({ student: 1, event: 1 }) ensuring zero duplicate active registrations.</a:t>
            </a:r>
          </a:p>
        </p:txBody>
      </p:sp>
      <p:sp>
        <p:nvSpPr>
          <p:cNvPr id="13" name="Rounded Rectangle 12"/>
          <p:cNvSpPr/>
          <p:nvPr/>
        </p:nvSpPr>
        <p:spPr>
          <a:xfrm>
            <a:off x="6217920" y="301752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154680"/>
            <a:ext cx="4754880" cy="1188720"/>
          </a:xfrm>
          <a:prstGeom prst="rect">
            <a:avLst/>
          </a:prstGeom>
          <a:noFill/>
        </p:spPr>
        <p:txBody>
          <a:bodyPr wrap="square">
            <a:spAutoFit/>
          </a:bodyPr>
          <a:lstStyle/>
          <a:p>
            <a:pPr>
              <a:defRPr sz="1400" b="1">
                <a:solidFill>
                  <a:srgbClr val="1D4ED8"/>
                </a:solidFill>
              </a:defRPr>
            </a:pPr>
            <a:r>
              <a:t>4. Role-Based Access Control</a:t>
            </a:r>
          </a:p>
          <a:p>
            <a:pPr>
              <a:spcBef>
                <a:spcPts val="400"/>
              </a:spcBef>
              <a:defRPr sz="1100">
                <a:solidFill>
                  <a:srgbClr val="64748B"/>
                </a:solidFill>
              </a:defRPr>
            </a:pPr>
            <a:r>
              <a:t>Segregate student attendees from faculty administrators using cryptographically signed JSON Web Tokens (JWT).</a:t>
            </a:r>
          </a:p>
        </p:txBody>
      </p:sp>
      <p:sp>
        <p:nvSpPr>
          <p:cNvPr id="15" name="Rounded Rectangle 14"/>
          <p:cNvSpPr/>
          <p:nvPr/>
        </p:nvSpPr>
        <p:spPr>
          <a:xfrm>
            <a:off x="731520" y="466344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800600"/>
            <a:ext cx="4754880" cy="1188720"/>
          </a:xfrm>
          <a:prstGeom prst="rect">
            <a:avLst/>
          </a:prstGeom>
          <a:noFill/>
        </p:spPr>
        <p:txBody>
          <a:bodyPr wrap="square">
            <a:spAutoFit/>
          </a:bodyPr>
          <a:lstStyle/>
          <a:p>
            <a:pPr>
              <a:defRPr sz="1400" b="1">
                <a:solidFill>
                  <a:srgbClr val="1D4ED8"/>
                </a:solidFill>
              </a:defRPr>
            </a:pPr>
            <a:r>
              <a:t>5. Live Faculty Administration</a:t>
            </a:r>
          </a:p>
          <a:p>
            <a:pPr>
              <a:spcBef>
                <a:spcPts val="400"/>
              </a:spcBef>
              <a:defRPr sz="1100">
                <a:solidFill>
                  <a:srgbClr val="64748B"/>
                </a:solidFill>
              </a:defRPr>
            </a:pPr>
            <a:r>
              <a:t>Provide real-time analytics dashboards, capacity progress tracking, and 1-click CSV roster generation.</a:t>
            </a:r>
          </a:p>
        </p:txBody>
      </p:sp>
      <p:sp>
        <p:nvSpPr>
          <p:cNvPr id="17" name="Rounded Rectangle 16"/>
          <p:cNvSpPr/>
          <p:nvPr/>
        </p:nvSpPr>
        <p:spPr>
          <a:xfrm>
            <a:off x="6217920" y="466344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800600"/>
            <a:ext cx="4754880" cy="1188720"/>
          </a:xfrm>
          <a:prstGeom prst="rect">
            <a:avLst/>
          </a:prstGeom>
          <a:noFill/>
        </p:spPr>
        <p:txBody>
          <a:bodyPr wrap="square">
            <a:spAutoFit/>
          </a:bodyPr>
          <a:lstStyle/>
          <a:p>
            <a:pPr>
              <a:defRPr sz="1400" b="1">
                <a:solidFill>
                  <a:srgbClr val="1D4ED8"/>
                </a:solidFill>
              </a:defRPr>
            </a:pPr>
            <a:r>
              <a:t>6. High-Performance Responsive UI</a:t>
            </a:r>
          </a:p>
          <a:p>
            <a:pPr>
              <a:spcBef>
                <a:spcPts val="400"/>
              </a:spcBef>
              <a:defRPr sz="1100">
                <a:solidFill>
                  <a:srgbClr val="64748B"/>
                </a:solidFill>
              </a:defRPr>
            </a:pPr>
            <a:r>
              <a:t>Develop an intuitive user experience using React 18, Vite, and Bootstrap 5 adaptable to mobile, tablet, and desktop viewports.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SYSTEM FEATURES</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Proposed System: Student &amp; Administrator Capabilities</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4663440" cy="4389120"/>
          </a:xfrm>
          <a:prstGeom prst="rect">
            <a:avLst/>
          </a:prstGeom>
          <a:noFill/>
        </p:spPr>
        <p:txBody>
          <a:bodyPr wrap="square">
            <a:spAutoFit/>
          </a:bodyPr>
          <a:lstStyle/>
          <a:p>
            <a:pPr>
              <a:defRPr sz="1800" b="1">
                <a:solidFill>
                  <a:srgbClr val="1D4ED8"/>
                </a:solidFill>
              </a:defRPr>
            </a:pPr>
            <a:r>
              <a:t>Student Portal Features</a:t>
            </a:r>
          </a:p>
          <a:p>
            <a:pPr>
              <a:spcBef>
                <a:spcPts val="600"/>
              </a:spcBef>
            </a:pPr>
            <a:r>
              <a:rPr b="1" sz="1150">
                <a:solidFill>
                  <a:srgbClr val="0F172A"/>
                </a:solidFill>
              </a:rPr>
              <a:t>✔ Account Registration &amp; Auth: </a:t>
            </a:r>
            <a:r>
              <a:rPr sz="1100">
                <a:solidFill>
                  <a:srgbClr val="64748B"/>
                </a:solidFill>
              </a:rPr>
              <a:t>Secure login with JWT token session handling and profile management.</a:t>
            </a:r>
          </a:p>
          <a:p>
            <a:pPr>
              <a:spcBef>
                <a:spcPts val="600"/>
              </a:spcBef>
            </a:pPr>
            <a:r>
              <a:rPr b="1" sz="1150">
                <a:solidFill>
                  <a:srgbClr val="0F172A"/>
                </a:solidFill>
              </a:rPr>
              <a:t>✔ Search &amp; Multi-Filter Catalog: </a:t>
            </a:r>
            <a:r>
              <a:rPr sz="1100">
                <a:solidFill>
                  <a:srgbClr val="64748B"/>
                </a:solidFill>
              </a:rPr>
              <a:t>Filter by Technical, Hackathon, Cultural, Sports, and Seminar categories.</a:t>
            </a:r>
          </a:p>
          <a:p>
            <a:pPr>
              <a:spcBef>
                <a:spcPts val="600"/>
              </a:spcBef>
            </a:pPr>
            <a:r>
              <a:rPr b="1" sz="1150">
                <a:solidFill>
                  <a:srgbClr val="0F172A"/>
                </a:solidFill>
              </a:rPr>
              <a:t>✔ Seat Capacity Indicators: </a:t>
            </a:r>
            <a:r>
              <a:rPr sz="1100">
                <a:solidFill>
                  <a:srgbClr val="64748B"/>
                </a:solidFill>
              </a:rPr>
              <a:t>Color-coded progress bars showing exact seats remaining in real time.</a:t>
            </a:r>
          </a:p>
          <a:p>
            <a:pPr>
              <a:spcBef>
                <a:spcPts val="600"/>
              </a:spcBef>
            </a:pPr>
            <a:r>
              <a:rPr b="1" sz="1150">
                <a:solidFill>
                  <a:srgbClr val="0F172A"/>
                </a:solidFill>
              </a:rPr>
              <a:t>✔ 1-Click Atomic Registration: </a:t>
            </a:r>
            <a:r>
              <a:rPr sz="1100">
                <a:solidFill>
                  <a:srgbClr val="64748B"/>
                </a:solidFill>
              </a:rPr>
              <a:t>Instant seat reservation with optional special dietary or team notes.</a:t>
            </a:r>
          </a:p>
          <a:p>
            <a:pPr>
              <a:spcBef>
                <a:spcPts val="600"/>
              </a:spcBef>
            </a:pPr>
            <a:r>
              <a:rPr b="1" sz="1150">
                <a:solidFill>
                  <a:srgbClr val="0F172A"/>
                </a:solidFill>
              </a:rPr>
              <a:t>✔ Self-Service Cancellation: </a:t>
            </a:r>
            <a:r>
              <a:rPr sz="1100">
                <a:solidFill>
                  <a:srgbClr val="64748B"/>
                </a:solidFill>
              </a:rPr>
              <a:t>Relinquish seats before event start date, restoring seat availability.</a:t>
            </a:r>
          </a:p>
          <a:p>
            <a:pPr>
              <a:spcBef>
                <a:spcPts val="600"/>
              </a:spcBef>
            </a:pPr>
            <a:r>
              <a:rPr b="1" sz="1150">
                <a:solidFill>
                  <a:srgbClr val="0F172A"/>
                </a:solidFill>
              </a:rPr>
              <a:t>✔ Student Dashboard: </a:t>
            </a:r>
            <a:r>
              <a:rPr sz="1100">
                <a:solidFill>
                  <a:srgbClr val="64748B"/>
                </a:solidFill>
              </a:rPr>
              <a:t>Personal audit log of confirmed, upcoming, and past event bookings.</a:t>
            </a:r>
          </a:p>
        </p:txBody>
      </p:sp>
      <p:sp>
        <p:nvSpPr>
          <p:cNvPr id="9" name="Rounded Rectangle 8"/>
          <p:cNvSpPr/>
          <p:nvPr/>
        </p:nvSpPr>
        <p:spPr>
          <a:xfrm>
            <a:off x="62179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663440" cy="4389120"/>
          </a:xfrm>
          <a:prstGeom prst="rect">
            <a:avLst/>
          </a:prstGeom>
          <a:noFill/>
        </p:spPr>
        <p:txBody>
          <a:bodyPr wrap="square">
            <a:spAutoFit/>
          </a:bodyPr>
          <a:lstStyle/>
          <a:p>
            <a:pPr>
              <a:defRPr sz="1800" b="1">
                <a:solidFill>
                  <a:srgbClr val="059669"/>
                </a:solidFill>
              </a:defRPr>
            </a:pPr>
            <a:r>
              <a:t>Faculty Admin Console</a:t>
            </a:r>
          </a:p>
          <a:p>
            <a:pPr>
              <a:spcBef>
                <a:spcPts val="600"/>
              </a:spcBef>
            </a:pPr>
            <a:r>
              <a:rPr b="1" sz="1150">
                <a:solidFill>
                  <a:srgbClr val="0F172A"/>
                </a:solidFill>
              </a:rPr>
              <a:t>✔ Executive KPI Dashboard: </a:t>
            </a:r>
            <a:r>
              <a:rPr sz="1100">
                <a:solidFill>
                  <a:srgbClr val="64748B"/>
                </a:solidFill>
              </a:rPr>
              <a:t>Instant overview of Total Events, Upcoming, Registered Students, and Bookings.</a:t>
            </a:r>
          </a:p>
          <a:p>
            <a:pPr>
              <a:spcBef>
                <a:spcPts val="600"/>
              </a:spcBef>
            </a:pPr>
            <a:r>
              <a:rPr b="1" sz="1150">
                <a:solidFill>
                  <a:srgbClr val="0F172A"/>
                </a:solidFill>
              </a:rPr>
              <a:t>✔ Full Event CRUD Management: </a:t>
            </a:r>
            <a:r>
              <a:rPr sz="1100">
                <a:solidFill>
                  <a:srgbClr val="64748B"/>
                </a:solidFill>
              </a:rPr>
              <a:t>Create, edit, publish, and delete events with capacity bound enforcement.</a:t>
            </a:r>
          </a:p>
          <a:p>
            <a:pPr>
              <a:spcBef>
                <a:spcPts val="600"/>
              </a:spcBef>
            </a:pPr>
            <a:r>
              <a:rPr b="1" sz="1150">
                <a:solidFill>
                  <a:srgbClr val="0F172A"/>
                </a:solidFill>
              </a:rPr>
              <a:t>✔ Attendee Roster Inspection: </a:t>
            </a:r>
            <a:r>
              <a:rPr sz="1100">
                <a:solidFill>
                  <a:srgbClr val="64748B"/>
                </a:solidFill>
              </a:rPr>
              <a:t>Search registered students by full name, college email, or roll number.</a:t>
            </a:r>
          </a:p>
          <a:p>
            <a:pPr>
              <a:spcBef>
                <a:spcPts val="600"/>
              </a:spcBef>
            </a:pPr>
            <a:r>
              <a:rPr b="1" sz="1150">
                <a:solidFill>
                  <a:srgbClr val="0F172A"/>
                </a:solidFill>
              </a:rPr>
              <a:t>✔ Automated CSV Export: </a:t>
            </a:r>
            <a:r>
              <a:rPr sz="1100">
                <a:solidFill>
                  <a:srgbClr val="64748B"/>
                </a:solidFill>
              </a:rPr>
              <a:t>Single-click download of attendance spreadsheets formatted for Excel.</a:t>
            </a:r>
          </a:p>
          <a:p>
            <a:pPr>
              <a:spcBef>
                <a:spcPts val="600"/>
              </a:spcBef>
            </a:pPr>
            <a:r>
              <a:rPr b="1" sz="1150">
                <a:solidFill>
                  <a:srgbClr val="0F172A"/>
                </a:solidFill>
              </a:rPr>
              <a:t>✔ Publication Status Toggles: </a:t>
            </a:r>
            <a:r>
              <a:rPr sz="1100">
                <a:solidFill>
                  <a:srgbClr val="64748B"/>
                </a:solidFill>
              </a:rPr>
              <a:t>Switch events between Published, Draft, Closed, and Cancelled modes.</a:t>
            </a:r>
          </a:p>
          <a:p>
            <a:pPr>
              <a:spcBef>
                <a:spcPts val="600"/>
              </a:spcBef>
            </a:pPr>
            <a:r>
              <a:rPr b="1" sz="1150">
                <a:solidFill>
                  <a:srgbClr val="0F172A"/>
                </a:solidFill>
              </a:rPr>
              <a:t>✔ Safety Bounds Checking: </a:t>
            </a:r>
            <a:r>
              <a:rPr sz="1100">
                <a:solidFill>
                  <a:srgbClr val="64748B"/>
                </a:solidFill>
              </a:rPr>
              <a:t>Prevents reducing event capacity below the number of enrolled attendees.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CORE TECHNOLOGIES</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Technology Stack: Full-Stack MERN Architecture</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463040"/>
            <a:ext cx="2560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63040"/>
            <a:ext cx="2560320" cy="7772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React 18 &amp; Vite</a:t>
            </a:r>
          </a:p>
        </p:txBody>
      </p:sp>
      <p:sp>
        <p:nvSpPr>
          <p:cNvPr id="9" name="TextBox 8"/>
          <p:cNvSpPr txBox="1"/>
          <p:nvPr/>
        </p:nvSpPr>
        <p:spPr>
          <a:xfrm>
            <a:off x="868680" y="2331720"/>
            <a:ext cx="2286000" cy="3657600"/>
          </a:xfrm>
          <a:prstGeom prst="rect">
            <a:avLst/>
          </a:prstGeom>
          <a:noFill/>
        </p:spPr>
        <p:txBody>
          <a:bodyPr wrap="square">
            <a:spAutoFit/>
          </a:bodyPr>
          <a:lstStyle/>
          <a:p>
            <a:pPr>
              <a:defRPr sz="1000" b="1">
                <a:solidFill>
                  <a:srgbClr val="1D4ED8"/>
                </a:solidFill>
              </a:defRPr>
            </a:pPr>
            <a:r>
              <a:t>FRONTEND PRESENTATION</a:t>
            </a:r>
          </a:p>
          <a:p>
            <a:pPr>
              <a:spcBef>
                <a:spcPts val="800"/>
              </a:spcBef>
              <a:defRPr sz="1150">
                <a:solidFill>
                  <a:srgbClr val="64748B"/>
                </a:solidFill>
              </a:defRPr>
            </a:pPr>
            <a:r>
              <a:t>Component-based architecture, virtual DOM for instant UI updates, client-side routing with React Router DOM, bundled via Vite 6 Rollup for sub-2s build times.</a:t>
            </a:r>
          </a:p>
        </p:txBody>
      </p:sp>
      <p:sp>
        <p:nvSpPr>
          <p:cNvPr id="10" name="Rounded Rectangle 9"/>
          <p:cNvSpPr/>
          <p:nvPr/>
        </p:nvSpPr>
        <p:spPr>
          <a:xfrm>
            <a:off x="3429000" y="1463040"/>
            <a:ext cx="2560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429000" y="1463040"/>
            <a:ext cx="2560320" cy="7772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Node.js &amp; Express.js</a:t>
            </a:r>
          </a:p>
        </p:txBody>
      </p:sp>
      <p:sp>
        <p:nvSpPr>
          <p:cNvPr id="12" name="TextBox 11"/>
          <p:cNvSpPr txBox="1"/>
          <p:nvPr/>
        </p:nvSpPr>
        <p:spPr>
          <a:xfrm>
            <a:off x="3566160" y="2331720"/>
            <a:ext cx="2286000" cy="3657600"/>
          </a:xfrm>
          <a:prstGeom prst="rect">
            <a:avLst/>
          </a:prstGeom>
          <a:noFill/>
        </p:spPr>
        <p:txBody>
          <a:bodyPr wrap="square">
            <a:spAutoFit/>
          </a:bodyPr>
          <a:lstStyle/>
          <a:p>
            <a:pPr>
              <a:defRPr sz="1000" b="1">
                <a:solidFill>
                  <a:srgbClr val="059669"/>
                </a:solidFill>
              </a:defRPr>
            </a:pPr>
            <a:r>
              <a:t>BACKEND APPLICATION TIER</a:t>
            </a:r>
          </a:p>
          <a:p>
            <a:pPr>
              <a:spcBef>
                <a:spcPts val="800"/>
              </a:spcBef>
              <a:defRPr sz="1150">
                <a:solidFill>
                  <a:srgbClr val="64748B"/>
                </a:solidFill>
              </a:defRPr>
            </a:pPr>
            <a:r>
              <a:t>Asynchronous, non-blocking REST API server. Implements middleware for Helmet, CORS, body parsing, express-rate-limit, and centralized error catching.</a:t>
            </a:r>
          </a:p>
        </p:txBody>
      </p:sp>
      <p:sp>
        <p:nvSpPr>
          <p:cNvPr id="13" name="Rounded Rectangle 12"/>
          <p:cNvSpPr/>
          <p:nvPr/>
        </p:nvSpPr>
        <p:spPr>
          <a:xfrm>
            <a:off x="6126480" y="1463040"/>
            <a:ext cx="2560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463040"/>
            <a:ext cx="2560320" cy="7772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MongoDB &amp; Mongoose 8</a:t>
            </a:r>
          </a:p>
        </p:txBody>
      </p:sp>
      <p:sp>
        <p:nvSpPr>
          <p:cNvPr id="15" name="TextBox 14"/>
          <p:cNvSpPr txBox="1"/>
          <p:nvPr/>
        </p:nvSpPr>
        <p:spPr>
          <a:xfrm>
            <a:off x="6263640" y="2331720"/>
            <a:ext cx="2286000" cy="3657600"/>
          </a:xfrm>
          <a:prstGeom prst="rect">
            <a:avLst/>
          </a:prstGeom>
          <a:noFill/>
        </p:spPr>
        <p:txBody>
          <a:bodyPr wrap="square">
            <a:spAutoFit/>
          </a:bodyPr>
          <a:lstStyle/>
          <a:p>
            <a:pPr>
              <a:defRPr sz="1000" b="1">
                <a:solidFill>
                  <a:srgbClr val="D97706"/>
                </a:solidFill>
              </a:defRPr>
            </a:pPr>
            <a:r>
              <a:t>DATABASE PERSISTENCE</a:t>
            </a:r>
          </a:p>
          <a:p>
            <a:pPr>
              <a:spcBef>
                <a:spcPts val="800"/>
              </a:spcBef>
              <a:defRPr sz="1150">
                <a:solidFill>
                  <a:srgbClr val="64748B"/>
                </a:solidFill>
              </a:defRPr>
            </a:pPr>
            <a:r>
              <a:t>NoSQL document store with Mongoose ODM schemas. Enforces compound unique indexes, timestamps, virtual computed properties, and atomic update operators.</a:t>
            </a:r>
          </a:p>
        </p:txBody>
      </p:sp>
      <p:sp>
        <p:nvSpPr>
          <p:cNvPr id="16" name="Rounded Rectangle 15"/>
          <p:cNvSpPr/>
          <p:nvPr/>
        </p:nvSpPr>
        <p:spPr>
          <a:xfrm>
            <a:off x="8823960" y="1463040"/>
            <a:ext cx="2560320" cy="46634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23960" y="1463040"/>
            <a:ext cx="2560320" cy="7772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Security &amp; Tooling</a:t>
            </a:r>
          </a:p>
        </p:txBody>
      </p:sp>
      <p:sp>
        <p:nvSpPr>
          <p:cNvPr id="18" name="TextBox 17"/>
          <p:cNvSpPr txBox="1"/>
          <p:nvPr/>
        </p:nvSpPr>
        <p:spPr>
          <a:xfrm>
            <a:off x="8961120" y="2331720"/>
            <a:ext cx="2286000" cy="3657600"/>
          </a:xfrm>
          <a:prstGeom prst="rect">
            <a:avLst/>
          </a:prstGeom>
          <a:noFill/>
        </p:spPr>
        <p:txBody>
          <a:bodyPr wrap="square">
            <a:spAutoFit/>
          </a:bodyPr>
          <a:lstStyle/>
          <a:p>
            <a:pPr>
              <a:defRPr sz="1000" b="1">
                <a:solidFill>
                  <a:srgbClr val="1E293B"/>
                </a:solidFill>
              </a:defRPr>
            </a:pPr>
            <a:r>
              <a:t>AUTHENTICATION &amp; CI/CD</a:t>
            </a:r>
          </a:p>
          <a:p>
            <a:pPr>
              <a:spcBef>
                <a:spcPts val="800"/>
              </a:spcBef>
              <a:defRPr sz="1150">
                <a:solidFill>
                  <a:srgbClr val="64748B"/>
                </a:solidFill>
              </a:defRPr>
            </a:pPr>
            <a:r>
              <a:t>Bcrypt.js password hashing (10 salt rounds), stateless JSON Web Tokens (7-day expiry), Git version control, and GitHub Actions continuous deployment.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ARCHITECTURAL MODEL</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System Architecture: 3-Tier Multi-Layer Design</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106984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137160" cy="146304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463040"/>
            <a:ext cx="10241280" cy="1280160"/>
          </a:xfrm>
          <a:prstGeom prst="rect">
            <a:avLst/>
          </a:prstGeom>
          <a:noFill/>
        </p:spPr>
        <p:txBody>
          <a:bodyPr wrap="square">
            <a:spAutoFit/>
          </a:bodyPr>
          <a:lstStyle/>
          <a:p>
            <a:pPr>
              <a:defRPr sz="1300" b="1">
                <a:solidFill>
                  <a:srgbClr val="1D4ED8"/>
                </a:solidFill>
              </a:defRPr>
            </a:pPr>
            <a:r>
              <a:t>Tier 1: Client Presentation Tier  —  </a:t>
            </a:r>
            <a:r>
              <a:rPr sz="1150">
                <a:solidFill>
                  <a:srgbClr val="0F172A"/>
                </a:solidFill>
              </a:rPr>
              <a:t>React 18 Single Page Application (Port 5173 / GitHub Pages)</a:t>
            </a:r>
          </a:p>
          <a:p>
            <a:pPr>
              <a:spcBef>
                <a:spcPts val="400"/>
              </a:spcBef>
              <a:defRPr sz="1050">
                <a:solidFill>
                  <a:srgbClr val="64748B"/>
                </a:solidFill>
              </a:defRPr>
            </a:pPr>
            <a:r>
              <a:t>   • React Components (Navbar, EventCard, FilterPanel, Modals)   • React Router DOM with client-side protected route guards   • AuthContext global session management (User state, Token)   • Axios HTTP client with Bearer token request interceptor</a:t>
            </a:r>
          </a:p>
        </p:txBody>
      </p:sp>
      <p:sp>
        <p:nvSpPr>
          <p:cNvPr id="10" name="Rounded Rectangle 9"/>
          <p:cNvSpPr/>
          <p:nvPr/>
        </p:nvSpPr>
        <p:spPr>
          <a:xfrm>
            <a:off x="731520" y="3017520"/>
            <a:ext cx="106984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017520"/>
            <a:ext cx="137160"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08960"/>
            <a:ext cx="10241280" cy="1280160"/>
          </a:xfrm>
          <a:prstGeom prst="rect">
            <a:avLst/>
          </a:prstGeom>
          <a:noFill/>
        </p:spPr>
        <p:txBody>
          <a:bodyPr wrap="square">
            <a:spAutoFit/>
          </a:bodyPr>
          <a:lstStyle/>
          <a:p>
            <a:pPr>
              <a:defRPr sz="1300" b="1">
                <a:solidFill>
                  <a:srgbClr val="059669"/>
                </a:solidFill>
              </a:defRPr>
            </a:pPr>
            <a:r>
              <a:t>Tier 2: Application Logic Tier  —  </a:t>
            </a:r>
            <a:r>
              <a:rPr sz="1150">
                <a:solidFill>
                  <a:srgbClr val="0F172A"/>
                </a:solidFill>
              </a:rPr>
              <a:t>Express.js RESTful API Server (Port 5000 / Render)</a:t>
            </a:r>
          </a:p>
          <a:p>
            <a:pPr>
              <a:spcBef>
                <a:spcPts val="400"/>
              </a:spcBef>
              <a:defRPr sz="1050">
                <a:solidFill>
                  <a:srgbClr val="64748B"/>
                </a:solidFill>
              </a:defRPr>
            </a:pPr>
            <a:r>
              <a:t>   • Security Pipeline: Helmet headers, CORS policies, Rate limiting   • Authentication &amp; Authorization: JWT verification &amp; RBAC check   • Input Validation: express-validator sanitization &amp; bounds rules   • Resource Controllers: Auth, Events, Registrations, Admin</a:t>
            </a:r>
          </a:p>
        </p:txBody>
      </p:sp>
      <p:sp>
        <p:nvSpPr>
          <p:cNvPr id="13" name="Rounded Rectangle 12"/>
          <p:cNvSpPr/>
          <p:nvPr/>
        </p:nvSpPr>
        <p:spPr>
          <a:xfrm>
            <a:off x="731520" y="4663440"/>
            <a:ext cx="106984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663440"/>
            <a:ext cx="137160" cy="146304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754880"/>
            <a:ext cx="10241280" cy="1280160"/>
          </a:xfrm>
          <a:prstGeom prst="rect">
            <a:avLst/>
          </a:prstGeom>
          <a:noFill/>
        </p:spPr>
        <p:txBody>
          <a:bodyPr wrap="square">
            <a:spAutoFit/>
          </a:bodyPr>
          <a:lstStyle/>
          <a:p>
            <a:pPr>
              <a:defRPr sz="1300" b="1">
                <a:solidFill>
                  <a:srgbClr val="1E293B"/>
                </a:solidFill>
              </a:defRPr>
            </a:pPr>
            <a:r>
              <a:t>Tier 3: Data Persistence Tier  —  </a:t>
            </a:r>
            <a:r>
              <a:rPr sz="1150">
                <a:solidFill>
                  <a:srgbClr val="0F172A"/>
                </a:solidFill>
              </a:rPr>
              <a:t>MongoDB Database Server (campus_events / Atlas)</a:t>
            </a:r>
          </a:p>
          <a:p>
            <a:pPr>
              <a:spcBef>
                <a:spcPts val="400"/>
              </a:spcBef>
              <a:defRPr sz="1050">
                <a:solidFill>
                  <a:srgbClr val="64748B"/>
                </a:solidFill>
              </a:defRPr>
            </a:pPr>
            <a:r>
              <a:t>   • Users Collection: Hashed passwords, Student/Admin roles   • Events Collection: Capacity, remainingSeats, indexes   • Registrations Collection: Unique compound index { student, event }   • Atomic Operators: findOneAndUpdate with $expr and $inc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DATA MODELS</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Database Design: Mongoose Schemas &amp; Indexing Strategy</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34747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3474720" cy="73152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users Collection</a:t>
            </a:r>
          </a:p>
          <a:p>
            <a:pPr algn="ctr">
              <a:defRPr sz="950">
                <a:solidFill>
                  <a:srgbClr val="E2E8F0"/>
                </a:solidFill>
              </a:defRPr>
            </a:pPr>
            <a:r>
              <a:t>Student &amp; Faculty Admin Accounts</a:t>
            </a:r>
          </a:p>
        </p:txBody>
      </p:sp>
      <p:sp>
        <p:nvSpPr>
          <p:cNvPr id="9" name="TextBox 8"/>
          <p:cNvSpPr txBox="1"/>
          <p:nvPr/>
        </p:nvSpPr>
        <p:spPr>
          <a:xfrm>
            <a:off x="868680" y="2194560"/>
            <a:ext cx="3200400" cy="3749039"/>
          </a:xfrm>
          <a:prstGeom prst="rect">
            <a:avLst/>
          </a:prstGeom>
          <a:noFill/>
        </p:spPr>
        <p:txBody>
          <a:bodyPr wrap="square">
            <a:spAutoFit/>
          </a:bodyPr>
          <a:lstStyle/>
          <a:p/>
          <a:p>
            <a:pPr>
              <a:spcBef>
                <a:spcPts val="400"/>
              </a:spcBef>
            </a:pPr>
            <a:r>
              <a:rPr b="1" sz="1050">
                <a:solidFill>
                  <a:srgbClr val="0F172A"/>
                </a:solidFill>
              </a:rPr>
              <a:t>• name: </a:t>
            </a:r>
            <a:r>
              <a:rPr sz="1000">
                <a:solidFill>
                  <a:srgbClr val="64748B"/>
                </a:solidFill>
              </a:rPr>
              <a:t>String (2-60 chars, Required)</a:t>
            </a:r>
          </a:p>
          <a:p>
            <a:pPr>
              <a:spcBef>
                <a:spcPts val="400"/>
              </a:spcBef>
            </a:pPr>
            <a:r>
              <a:rPr b="1" sz="1050">
                <a:solidFill>
                  <a:srgbClr val="0F172A"/>
                </a:solidFill>
              </a:rPr>
              <a:t>• email: </a:t>
            </a:r>
            <a:r>
              <a:rPr sz="1000">
                <a:solidFill>
                  <a:srgbClr val="64748B"/>
                </a:solidFill>
              </a:rPr>
              <a:t>String (Unique index, normalized lowercase)</a:t>
            </a:r>
          </a:p>
          <a:p>
            <a:pPr>
              <a:spcBef>
                <a:spcPts val="400"/>
              </a:spcBef>
            </a:pPr>
            <a:r>
              <a:rPr b="1" sz="1050">
                <a:solidFill>
                  <a:srgbClr val="0F172A"/>
                </a:solidFill>
              </a:rPr>
              <a:t>• password: </a:t>
            </a:r>
            <a:r>
              <a:rPr sz="1000">
                <a:solidFill>
                  <a:srgbClr val="64748B"/>
                </a:solidFill>
              </a:rPr>
              <a:t>String (Bcrypt hashed, 10 salt rounds)</a:t>
            </a:r>
          </a:p>
          <a:p>
            <a:pPr>
              <a:spcBef>
                <a:spcPts val="400"/>
              </a:spcBef>
            </a:pPr>
            <a:r>
              <a:rPr b="1" sz="1050">
                <a:solidFill>
                  <a:srgbClr val="0F172A"/>
                </a:solidFill>
              </a:rPr>
              <a:t>• role: </a:t>
            </a:r>
            <a:r>
              <a:rPr sz="1000">
                <a:solidFill>
                  <a:srgbClr val="64748B"/>
                </a:solidFill>
              </a:rPr>
              <a:t>Enum: ['student', 'admin'] (Default: student)</a:t>
            </a:r>
          </a:p>
          <a:p>
            <a:pPr>
              <a:spcBef>
                <a:spcPts val="400"/>
              </a:spcBef>
            </a:pPr>
            <a:r>
              <a:rPr b="1" sz="1050">
                <a:solidFill>
                  <a:srgbClr val="0F172A"/>
                </a:solidFill>
              </a:rPr>
              <a:t>• department: </a:t>
            </a:r>
            <a:r>
              <a:rPr sz="1000">
                <a:solidFill>
                  <a:srgbClr val="64748B"/>
                </a:solidFill>
              </a:rPr>
              <a:t>String (College branch / department)</a:t>
            </a:r>
          </a:p>
          <a:p>
            <a:pPr>
              <a:spcBef>
                <a:spcPts val="400"/>
              </a:spcBef>
            </a:pPr>
            <a:r>
              <a:rPr b="1" sz="1050">
                <a:solidFill>
                  <a:srgbClr val="0F172A"/>
                </a:solidFill>
              </a:rPr>
              <a:t>• studentId: </a:t>
            </a:r>
            <a:r>
              <a:rPr sz="1000">
                <a:solidFill>
                  <a:srgbClr val="64748B"/>
                </a:solidFill>
              </a:rPr>
              <a:t>String (Campus Roll Number)</a:t>
            </a:r>
          </a:p>
          <a:p>
            <a:pPr>
              <a:spcBef>
                <a:spcPts val="400"/>
              </a:spcBef>
            </a:pPr>
            <a:r>
              <a:rPr b="1" sz="1050">
                <a:solidFill>
                  <a:srgbClr val="0F172A"/>
                </a:solidFill>
              </a:rPr>
              <a:t>• timestamps: </a:t>
            </a:r>
            <a:r>
              <a:rPr sz="1000">
                <a:solidFill>
                  <a:srgbClr val="64748B"/>
                </a:solidFill>
              </a:rPr>
              <a:t>Date (createdAt, updatedAt auto-generated)</a:t>
            </a:r>
          </a:p>
        </p:txBody>
      </p:sp>
      <p:sp>
        <p:nvSpPr>
          <p:cNvPr id="10" name="Rounded Rectangle 9"/>
          <p:cNvSpPr/>
          <p:nvPr/>
        </p:nvSpPr>
        <p:spPr>
          <a:xfrm>
            <a:off x="4343400" y="1371600"/>
            <a:ext cx="34747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371600"/>
            <a:ext cx="3474720" cy="73152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events Collection</a:t>
            </a:r>
          </a:p>
          <a:p>
            <a:pPr algn="ctr">
              <a:defRPr sz="950">
                <a:solidFill>
                  <a:srgbClr val="E2E8F0"/>
                </a:solidFill>
              </a:defRPr>
            </a:pPr>
            <a:r>
              <a:t>Campus Symposiums, Hackathons, Fests</a:t>
            </a:r>
          </a:p>
        </p:txBody>
      </p:sp>
      <p:sp>
        <p:nvSpPr>
          <p:cNvPr id="12" name="TextBox 11"/>
          <p:cNvSpPr txBox="1"/>
          <p:nvPr/>
        </p:nvSpPr>
        <p:spPr>
          <a:xfrm>
            <a:off x="4480560" y="2194560"/>
            <a:ext cx="3200400" cy="3749039"/>
          </a:xfrm>
          <a:prstGeom prst="rect">
            <a:avLst/>
          </a:prstGeom>
          <a:noFill/>
        </p:spPr>
        <p:txBody>
          <a:bodyPr wrap="square">
            <a:spAutoFit/>
          </a:bodyPr>
          <a:lstStyle/>
          <a:p/>
          <a:p>
            <a:pPr>
              <a:spcBef>
                <a:spcPts val="400"/>
              </a:spcBef>
            </a:pPr>
            <a:r>
              <a:rPr b="1" sz="1050">
                <a:solidFill>
                  <a:srgbClr val="0F172A"/>
                </a:solidFill>
              </a:rPr>
              <a:t>• title &amp; desc: </a:t>
            </a:r>
            <a:r>
              <a:rPr sz="1000">
                <a:solidFill>
                  <a:srgbClr val="64748B"/>
                </a:solidFill>
              </a:rPr>
              <a:t>String (Text search indexed, required)</a:t>
            </a:r>
          </a:p>
          <a:p>
            <a:pPr>
              <a:spcBef>
                <a:spcPts val="400"/>
              </a:spcBef>
            </a:pPr>
            <a:r>
              <a:rPr b="1" sz="1050">
                <a:solidFill>
                  <a:srgbClr val="0F172A"/>
                </a:solidFill>
              </a:rPr>
              <a:t>• category: </a:t>
            </a:r>
            <a:r>
              <a:rPr sz="1000">
                <a:solidFill>
                  <a:srgbClr val="64748B"/>
                </a:solidFill>
              </a:rPr>
              <a:t>Enum: Technical, Workshop, Cultural, Sports...</a:t>
            </a:r>
          </a:p>
          <a:p>
            <a:pPr>
              <a:spcBef>
                <a:spcPts val="400"/>
              </a:spcBef>
            </a:pPr>
            <a:r>
              <a:rPr b="1" sz="1050">
                <a:solidFill>
                  <a:srgbClr val="0F172A"/>
                </a:solidFill>
              </a:rPr>
              <a:t>• eventDate: </a:t>
            </a:r>
            <a:r>
              <a:rPr sz="1000">
                <a:solidFill>
                  <a:srgbClr val="64748B"/>
                </a:solidFill>
              </a:rPr>
              <a:t>Date (Compound index with status: 1)</a:t>
            </a:r>
          </a:p>
          <a:p>
            <a:pPr>
              <a:spcBef>
                <a:spcPts val="400"/>
              </a:spcBef>
            </a:pPr>
            <a:r>
              <a:rPr b="1" sz="1050">
                <a:solidFill>
                  <a:srgbClr val="0F172A"/>
                </a:solidFill>
              </a:rPr>
              <a:t>• venue &amp; time: </a:t>
            </a:r>
            <a:r>
              <a:rPr sz="1000">
                <a:solidFill>
                  <a:srgbClr val="64748B"/>
                </a:solidFill>
              </a:rPr>
              <a:t>String (Auditorium/Lab, start &amp; end time)</a:t>
            </a:r>
          </a:p>
          <a:p>
            <a:pPr>
              <a:spcBef>
                <a:spcPts val="400"/>
              </a:spcBef>
            </a:pPr>
            <a:r>
              <a:rPr b="1" sz="1050">
                <a:solidFill>
                  <a:srgbClr val="0F172A"/>
                </a:solidFill>
              </a:rPr>
              <a:t>• capacity: </a:t>
            </a:r>
            <a:r>
              <a:rPr sz="1000">
                <a:solidFill>
                  <a:srgbClr val="64748B"/>
                </a:solidFill>
              </a:rPr>
              <a:t>Number (Max seats limit, positive integer &gt;= 1)</a:t>
            </a:r>
          </a:p>
          <a:p>
            <a:pPr>
              <a:spcBef>
                <a:spcPts val="400"/>
              </a:spcBef>
            </a:pPr>
            <a:r>
              <a:rPr b="1" sz="1050">
                <a:solidFill>
                  <a:srgbClr val="0F172A"/>
                </a:solidFill>
              </a:rPr>
              <a:t>• registeredCount: </a:t>
            </a:r>
            <a:r>
              <a:rPr sz="1000">
                <a:solidFill>
                  <a:srgbClr val="64748B"/>
                </a:solidFill>
              </a:rPr>
              <a:t>Number (Live enrolled attendee count)</a:t>
            </a:r>
          </a:p>
          <a:p>
            <a:pPr>
              <a:spcBef>
                <a:spcPts val="400"/>
              </a:spcBef>
            </a:pPr>
            <a:r>
              <a:rPr b="1" sz="1050">
                <a:solidFill>
                  <a:srgbClr val="0F172A"/>
                </a:solidFill>
              </a:rPr>
              <a:t>• remainingSeats: </a:t>
            </a:r>
            <a:r>
              <a:rPr sz="1000">
                <a:solidFill>
                  <a:srgbClr val="64748B"/>
                </a:solidFill>
              </a:rPr>
              <a:t>Virtual: Math.max(0, capacity - registered)</a:t>
            </a:r>
          </a:p>
        </p:txBody>
      </p:sp>
      <p:sp>
        <p:nvSpPr>
          <p:cNvPr id="13" name="Rounded Rectangle 12"/>
          <p:cNvSpPr/>
          <p:nvPr/>
        </p:nvSpPr>
        <p:spPr>
          <a:xfrm>
            <a:off x="7955280" y="1371600"/>
            <a:ext cx="347472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955280" y="1371600"/>
            <a:ext cx="3474720" cy="7315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300" b="1">
                <a:solidFill>
                  <a:srgbClr val="FFFFFF"/>
                </a:solidFill>
              </a:defRPr>
            </a:pPr>
            <a:r>
              <a:t>registrations Collection</a:t>
            </a:r>
          </a:p>
          <a:p>
            <a:pPr algn="ctr">
              <a:defRPr sz="950">
                <a:solidFill>
                  <a:srgbClr val="E2E8F0"/>
                </a:solidFill>
              </a:defRPr>
            </a:pPr>
            <a:r>
              <a:t>Attendee Seat Reservations &amp; Audit</a:t>
            </a:r>
          </a:p>
        </p:txBody>
      </p:sp>
      <p:sp>
        <p:nvSpPr>
          <p:cNvPr id="15" name="TextBox 14"/>
          <p:cNvSpPr txBox="1"/>
          <p:nvPr/>
        </p:nvSpPr>
        <p:spPr>
          <a:xfrm>
            <a:off x="8092440" y="2194560"/>
            <a:ext cx="3200400" cy="3749039"/>
          </a:xfrm>
          <a:prstGeom prst="rect">
            <a:avLst/>
          </a:prstGeom>
          <a:noFill/>
        </p:spPr>
        <p:txBody>
          <a:bodyPr wrap="square">
            <a:spAutoFit/>
          </a:bodyPr>
          <a:lstStyle/>
          <a:p/>
          <a:p>
            <a:pPr>
              <a:spcBef>
                <a:spcPts val="400"/>
              </a:spcBef>
            </a:pPr>
            <a:r>
              <a:rPr b="1" sz="1050">
                <a:solidFill>
                  <a:srgbClr val="0F172A"/>
                </a:solidFill>
              </a:rPr>
              <a:t>• student: </a:t>
            </a:r>
            <a:r>
              <a:rPr sz="1000">
                <a:solidFill>
                  <a:srgbClr val="64748B"/>
                </a:solidFill>
              </a:rPr>
              <a:t>ObjectId (ref: User, compound unique index)</a:t>
            </a:r>
          </a:p>
          <a:p>
            <a:pPr>
              <a:spcBef>
                <a:spcPts val="400"/>
              </a:spcBef>
            </a:pPr>
            <a:r>
              <a:rPr b="1" sz="1050">
                <a:solidFill>
                  <a:srgbClr val="0F172A"/>
                </a:solidFill>
              </a:rPr>
              <a:t>• event: </a:t>
            </a:r>
            <a:r>
              <a:rPr sz="1000">
                <a:solidFill>
                  <a:srgbClr val="64748B"/>
                </a:solidFill>
              </a:rPr>
              <a:t>ObjectId (ref: Event, compound unique index)</a:t>
            </a:r>
          </a:p>
          <a:p>
            <a:pPr>
              <a:spcBef>
                <a:spcPts val="400"/>
              </a:spcBef>
            </a:pPr>
            <a:r>
              <a:rPr b="1" sz="1050">
                <a:solidFill>
                  <a:srgbClr val="0F172A"/>
                </a:solidFill>
              </a:rPr>
              <a:t>• status: </a:t>
            </a:r>
            <a:r>
              <a:rPr sz="1000">
                <a:solidFill>
                  <a:srgbClr val="64748B"/>
                </a:solidFill>
              </a:rPr>
              <a:t>Enum: ['confirmed', 'cancelled']</a:t>
            </a:r>
          </a:p>
          <a:p>
            <a:pPr>
              <a:spcBef>
                <a:spcPts val="400"/>
              </a:spcBef>
            </a:pPr>
            <a:r>
              <a:rPr b="1" sz="1050">
                <a:solidFill>
                  <a:srgbClr val="0F172A"/>
                </a:solidFill>
              </a:rPr>
              <a:t>• registeredAt: </a:t>
            </a:r>
            <a:r>
              <a:rPr sz="1000">
                <a:solidFill>
                  <a:srgbClr val="64748B"/>
                </a:solidFill>
              </a:rPr>
              <a:t>Date (Seat booking timestamp)</a:t>
            </a:r>
          </a:p>
          <a:p>
            <a:pPr>
              <a:spcBef>
                <a:spcPts val="400"/>
              </a:spcBef>
            </a:pPr>
            <a:r>
              <a:rPr b="1" sz="1050">
                <a:solidFill>
                  <a:srgbClr val="0F172A"/>
                </a:solidFill>
              </a:rPr>
              <a:t>• cancelledAt: </a:t>
            </a:r>
            <a:r>
              <a:rPr sz="1000">
                <a:solidFill>
                  <a:srgbClr val="64748B"/>
                </a:solidFill>
              </a:rPr>
              <a:t>Date (Cancellation audit timestamp)</a:t>
            </a:r>
          </a:p>
          <a:p>
            <a:pPr>
              <a:spcBef>
                <a:spcPts val="400"/>
              </a:spcBef>
            </a:pPr>
            <a:r>
              <a:rPr b="1" sz="1050">
                <a:solidFill>
                  <a:srgbClr val="0F172A"/>
                </a:solidFill>
              </a:rPr>
              <a:t>• notes: </a:t>
            </a:r>
            <a:r>
              <a:rPr sz="1000">
                <a:solidFill>
                  <a:srgbClr val="64748B"/>
                </a:solidFill>
              </a:rPr>
              <a:t>String (Optional dietary or team requirements)</a:t>
            </a:r>
          </a:p>
          <a:p>
            <a:pPr>
              <a:spcBef>
                <a:spcPts val="400"/>
              </a:spcBef>
            </a:pPr>
            <a:r>
              <a:rPr b="1" sz="1050">
                <a:solidFill>
                  <a:srgbClr val="0F172A"/>
                </a:solidFill>
              </a:rPr>
              <a:t>• UNIQUE KEY: </a:t>
            </a:r>
            <a:r>
              <a:rPr sz="1000">
                <a:solidFill>
                  <a:srgbClr val="64748B"/>
                </a:solidFill>
              </a:rPr>
              <a:t>{ student: 1, event: 1 } (Prevents duplicates)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VISUAL INTERFACE</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Frontend User Interface: Modern University Design System</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_landing_page.png"/>
          <p:cNvPicPr>
            <a:picLocks noChangeAspect="1"/>
          </p:cNvPicPr>
          <p:nvPr/>
        </p:nvPicPr>
        <p:blipFill>
          <a:blip r:embed="rId2"/>
          <a:stretch>
            <a:fillRect/>
          </a:stretch>
        </p:blipFill>
        <p:spPr>
          <a:xfrm>
            <a:off x="822960" y="1463040"/>
            <a:ext cx="5029200" cy="3108960"/>
          </a:xfrm>
          <a:prstGeom prst="rect">
            <a:avLst/>
          </a:prstGeom>
        </p:spPr>
      </p:pic>
      <p:sp>
        <p:nvSpPr>
          <p:cNvPr id="9" name="TextBox 8"/>
          <p:cNvSpPr txBox="1"/>
          <p:nvPr/>
        </p:nvSpPr>
        <p:spPr>
          <a:xfrm>
            <a:off x="822960" y="4617720"/>
            <a:ext cx="5029200" cy="594360"/>
          </a:xfrm>
          <a:prstGeom prst="rect">
            <a:avLst/>
          </a:prstGeom>
          <a:noFill/>
        </p:spPr>
        <p:txBody>
          <a:bodyPr wrap="square">
            <a:spAutoFit/>
          </a:bodyPr>
          <a:lstStyle/>
          <a:p>
            <a:pPr>
              <a:defRPr sz="1100" b="1">
                <a:solidFill>
                  <a:srgbClr val="1D4ED8"/>
                </a:solidFill>
              </a:defRPr>
            </a:pPr>
            <a:r>
              <a:t>Campus Landing Page (Hero, Live Stats, Category Cards)</a:t>
            </a:r>
          </a:p>
        </p:txBody>
      </p:sp>
      <p:sp>
        <p:nvSpPr>
          <p:cNvPr id="10" name="Rounded Rectangle 9"/>
          <p:cNvSpPr/>
          <p:nvPr/>
        </p:nvSpPr>
        <p:spPr>
          <a:xfrm>
            <a:off x="6217920" y="1371600"/>
            <a:ext cx="52120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2_events_catalog.png"/>
          <p:cNvPicPr>
            <a:picLocks noChangeAspect="1"/>
          </p:cNvPicPr>
          <p:nvPr/>
        </p:nvPicPr>
        <p:blipFill>
          <a:blip r:embed="rId3"/>
          <a:stretch>
            <a:fillRect/>
          </a:stretch>
        </p:blipFill>
        <p:spPr>
          <a:xfrm>
            <a:off x="6309360" y="1463040"/>
            <a:ext cx="5029200" cy="3108960"/>
          </a:xfrm>
          <a:prstGeom prst="rect">
            <a:avLst/>
          </a:prstGeom>
        </p:spPr>
      </p:pic>
      <p:sp>
        <p:nvSpPr>
          <p:cNvPr id="12" name="TextBox 11"/>
          <p:cNvSpPr txBox="1"/>
          <p:nvPr/>
        </p:nvSpPr>
        <p:spPr>
          <a:xfrm>
            <a:off x="6309360" y="4617720"/>
            <a:ext cx="5029200" cy="594360"/>
          </a:xfrm>
          <a:prstGeom prst="rect">
            <a:avLst/>
          </a:prstGeom>
          <a:noFill/>
        </p:spPr>
        <p:txBody>
          <a:bodyPr wrap="square">
            <a:spAutoFit/>
          </a:bodyPr>
          <a:lstStyle/>
          <a:p>
            <a:pPr>
              <a:defRPr sz="1100" b="1">
                <a:solidFill>
                  <a:srgbClr val="059669"/>
                </a:solidFill>
              </a:defRPr>
            </a:pPr>
            <a:r>
              <a:t>Events Explorer (Keyword Search, Category Pills, Capacity Progress)</a:t>
            </a:r>
          </a:p>
        </p:txBody>
      </p:sp>
      <p:sp>
        <p:nvSpPr>
          <p:cNvPr id="13" name="Rounded Rectangle 12"/>
          <p:cNvSpPr/>
          <p:nvPr/>
        </p:nvSpPr>
        <p:spPr>
          <a:xfrm>
            <a:off x="731520" y="548640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777240"/>
          </a:xfrm>
          <a:prstGeom prst="rect">
            <a:avLst/>
          </a:prstGeom>
          <a:noFill/>
        </p:spPr>
        <p:txBody>
          <a:bodyPr wrap="none">
            <a:spAutoFit/>
          </a:bodyPr>
          <a:lstStyle/>
          <a:p>
            <a:pPr>
              <a:defRPr b="1" sz="1100">
                <a:solidFill>
                  <a:srgbClr val="0F172A"/>
                </a:solidFill>
              </a:defRPr>
            </a:pPr>
            <a:r>
              <a:t>UI Design System Principles:  </a:t>
            </a:r>
            <a:r>
              <a:rPr sz="1100">
                <a:solidFill>
                  <a:srgbClr val="64748B"/>
                </a:solidFill>
              </a:rPr>
              <a:t>Navy blue &amp; indigo university theme, Bootstrap 5 responsive grid, real-time search filtering, color-coded capacity indicators, and clean accessible form inputs.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TRANSACTION LOGIC</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Student Registration Workflow: Atomic Seat Booking Flow</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3_event_details.png"/>
          <p:cNvPicPr>
            <a:picLocks noChangeAspect="1"/>
          </p:cNvPicPr>
          <p:nvPr/>
        </p:nvPicPr>
        <p:blipFill>
          <a:blip r:embed="rId2"/>
          <a:stretch>
            <a:fillRect/>
          </a:stretch>
        </p:blipFill>
        <p:spPr>
          <a:xfrm>
            <a:off x="822960" y="1463040"/>
            <a:ext cx="5029200" cy="4023360"/>
          </a:xfrm>
          <a:prstGeom prst="rect">
            <a:avLst/>
          </a:prstGeom>
        </p:spPr>
      </p:pic>
      <p:sp>
        <p:nvSpPr>
          <p:cNvPr id="9" name="TextBox 8"/>
          <p:cNvSpPr txBox="1"/>
          <p:nvPr/>
        </p:nvSpPr>
        <p:spPr>
          <a:xfrm>
            <a:off x="822960" y="5577840"/>
            <a:ext cx="5029200" cy="457200"/>
          </a:xfrm>
          <a:prstGeom prst="rect">
            <a:avLst/>
          </a:prstGeom>
          <a:noFill/>
        </p:spPr>
        <p:txBody>
          <a:bodyPr wrap="none">
            <a:spAutoFit/>
          </a:bodyPr>
          <a:lstStyle/>
          <a:p>
            <a:pPr>
              <a:defRPr sz="1100" b="1">
                <a:solidFill>
                  <a:srgbClr val="1D4ED8"/>
                </a:solidFill>
              </a:defRPr>
            </a:pPr>
            <a:r>
              <a:t>Live Event Details Page with Remaining Seats Gauge &amp; Booking Action</a:t>
            </a:r>
          </a:p>
        </p:txBody>
      </p:sp>
      <p:sp>
        <p:nvSpPr>
          <p:cNvPr id="10" name="Rounded Rectangle 9"/>
          <p:cNvSpPr/>
          <p:nvPr/>
        </p:nvSpPr>
        <p:spPr>
          <a:xfrm>
            <a:off x="62179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54480"/>
            <a:ext cx="4663440" cy="4389120"/>
          </a:xfrm>
          <a:prstGeom prst="rect">
            <a:avLst/>
          </a:prstGeom>
          <a:noFill/>
        </p:spPr>
        <p:txBody>
          <a:bodyPr wrap="square">
            <a:spAutoFit/>
          </a:bodyPr>
          <a:lstStyle/>
          <a:p>
            <a:pPr>
              <a:defRPr sz="1800" b="1">
                <a:solidFill>
                  <a:srgbClr val="1D4ED8"/>
                </a:solidFill>
              </a:defRPr>
            </a:pPr>
            <a:r>
              <a:t>Booking Lifecycle &amp; Concurrency Guard</a:t>
            </a:r>
          </a:p>
          <a:p>
            <a:pPr>
              <a:spcBef>
                <a:spcPts val="500"/>
              </a:spcBef>
            </a:pPr>
            <a:r>
              <a:rPr b="1" sz="1150">
                <a:solidFill>
                  <a:srgbClr val="059669"/>
                </a:solidFill>
              </a:rPr>
              <a:t>1. Student Authentication
</a:t>
            </a:r>
            <a:r>
              <a:rPr sz="1050">
                <a:solidFill>
                  <a:srgbClr val="64748B"/>
                </a:solidFill>
              </a:rPr>
              <a:t>Student signs in with credentials; JWT Bearer token is stored in client session.</a:t>
            </a:r>
          </a:p>
          <a:p>
            <a:pPr>
              <a:spcBef>
                <a:spcPts val="500"/>
              </a:spcBef>
            </a:pPr>
            <a:r>
              <a:rPr b="1" sz="1150">
                <a:solidFill>
                  <a:srgbClr val="059669"/>
                </a:solidFill>
              </a:rPr>
              <a:t>2. Event Selection &amp; Review
</a:t>
            </a:r>
            <a:r>
              <a:rPr sz="1050">
                <a:solidFill>
                  <a:srgbClr val="64748B"/>
                </a:solidFill>
              </a:rPr>
              <a:t>Student selects an event, reviews date, venue, syllabus, and available seats.</a:t>
            </a:r>
          </a:p>
          <a:p>
            <a:pPr>
              <a:spcBef>
                <a:spcPts val="500"/>
              </a:spcBef>
            </a:pPr>
            <a:r>
              <a:rPr b="1" sz="1150">
                <a:solidFill>
                  <a:srgbClr val="059669"/>
                </a:solidFill>
              </a:rPr>
              <a:t>3. Deadline &amp; Status Verification
</a:t>
            </a:r>
            <a:r>
              <a:rPr sz="1050">
                <a:solidFill>
                  <a:srgbClr val="64748B"/>
                </a:solidFill>
              </a:rPr>
              <a:t>Server verifies event is 'published' and registration deadline has not elapsed.</a:t>
            </a:r>
          </a:p>
          <a:p>
            <a:pPr>
              <a:spcBef>
                <a:spcPts val="500"/>
              </a:spcBef>
            </a:pPr>
            <a:r>
              <a:rPr b="1" sz="1150">
                <a:solidFill>
                  <a:srgbClr val="059669"/>
                </a:solidFill>
              </a:rPr>
              <a:t>4. Duplicate Booking Check
</a:t>
            </a:r>
            <a:r>
              <a:rPr sz="1050">
                <a:solidFill>
                  <a:srgbClr val="64748B"/>
                </a:solidFill>
              </a:rPr>
              <a:t>Queries existing registration records. If active, rejects duplicate submission.</a:t>
            </a:r>
          </a:p>
          <a:p>
            <a:pPr>
              <a:spcBef>
                <a:spcPts val="500"/>
              </a:spcBef>
            </a:pPr>
            <a:r>
              <a:rPr b="1" sz="1150">
                <a:solidFill>
                  <a:srgbClr val="059669"/>
                </a:solidFill>
              </a:rPr>
              <a:t>5. Atomic Seat Increment ($inc)
</a:t>
            </a:r>
            <a:r>
              <a:rPr sz="1050">
                <a:solidFill>
                  <a:srgbClr val="64748B"/>
                </a:solidFill>
              </a:rPr>
              <a:t>MongoDB executes findOneAndUpdate with condition registeredCount &lt; capacity. Prevents overselling completely.</a:t>
            </a:r>
          </a:p>
          <a:p>
            <a:pPr>
              <a:spcBef>
                <a:spcPts val="500"/>
              </a:spcBef>
            </a:pPr>
            <a:r>
              <a:rPr b="1" sz="1150">
                <a:solidFill>
                  <a:srgbClr val="059669"/>
                </a:solidFill>
              </a:rPr>
              <a:t>6. Registration Record Created
</a:t>
            </a:r>
            <a:r>
              <a:rPr sz="1050">
                <a:solidFill>
                  <a:srgbClr val="64748B"/>
                </a:solidFill>
              </a:rPr>
              <a:t>Document created in registrations collection. Student receives confirmed status badge.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ADMINISTRATIVE PANEL</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Administrator Console: Live Management &amp; Analytics</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7_admin_dashboard.png"/>
          <p:cNvPicPr>
            <a:picLocks noChangeAspect="1"/>
          </p:cNvPicPr>
          <p:nvPr/>
        </p:nvPicPr>
        <p:blipFill>
          <a:blip r:embed="rId2"/>
          <a:stretch>
            <a:fillRect/>
          </a:stretch>
        </p:blipFill>
        <p:spPr>
          <a:xfrm>
            <a:off x="822960" y="1463040"/>
            <a:ext cx="5029200" cy="3108960"/>
          </a:xfrm>
          <a:prstGeom prst="rect">
            <a:avLst/>
          </a:prstGeom>
        </p:spPr>
      </p:pic>
      <p:sp>
        <p:nvSpPr>
          <p:cNvPr id="9" name="TextBox 8"/>
          <p:cNvSpPr txBox="1"/>
          <p:nvPr/>
        </p:nvSpPr>
        <p:spPr>
          <a:xfrm>
            <a:off x="822960" y="4617720"/>
            <a:ext cx="5029200" cy="594360"/>
          </a:xfrm>
          <a:prstGeom prst="rect">
            <a:avLst/>
          </a:prstGeom>
          <a:noFill/>
        </p:spPr>
        <p:txBody>
          <a:bodyPr wrap="none">
            <a:spAutoFit/>
          </a:bodyPr>
          <a:lstStyle/>
          <a:p>
            <a:pPr>
              <a:defRPr sz="1100" b="1">
                <a:solidFill>
                  <a:srgbClr val="1D4ED8"/>
                </a:solidFill>
              </a:defRPr>
            </a:pPr>
            <a:r>
              <a:t>Admin Dashboard (KPI Metrics, Capacity Progress Bars, Actions)</a:t>
            </a:r>
          </a:p>
        </p:txBody>
      </p:sp>
      <p:sp>
        <p:nvSpPr>
          <p:cNvPr id="10" name="Rounded Rectangle 9"/>
          <p:cNvSpPr/>
          <p:nvPr/>
        </p:nvSpPr>
        <p:spPr>
          <a:xfrm>
            <a:off x="6217920" y="1371600"/>
            <a:ext cx="5212080" cy="3931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8_create_event.png"/>
          <p:cNvPicPr>
            <a:picLocks noChangeAspect="1"/>
          </p:cNvPicPr>
          <p:nvPr/>
        </p:nvPicPr>
        <p:blipFill>
          <a:blip r:embed="rId3"/>
          <a:stretch>
            <a:fillRect/>
          </a:stretch>
        </p:blipFill>
        <p:spPr>
          <a:xfrm>
            <a:off x="6309360" y="1463040"/>
            <a:ext cx="5029200" cy="3108960"/>
          </a:xfrm>
          <a:prstGeom prst="rect">
            <a:avLst/>
          </a:prstGeom>
        </p:spPr>
      </p:pic>
      <p:sp>
        <p:nvSpPr>
          <p:cNvPr id="12" name="TextBox 11"/>
          <p:cNvSpPr txBox="1"/>
          <p:nvPr/>
        </p:nvSpPr>
        <p:spPr>
          <a:xfrm>
            <a:off x="6309360" y="4617720"/>
            <a:ext cx="5029200" cy="594360"/>
          </a:xfrm>
          <a:prstGeom prst="rect">
            <a:avLst/>
          </a:prstGeom>
          <a:noFill/>
        </p:spPr>
        <p:txBody>
          <a:bodyPr wrap="none">
            <a:spAutoFit/>
          </a:bodyPr>
          <a:lstStyle/>
          <a:p>
            <a:pPr>
              <a:defRPr sz="1100" b="1">
                <a:solidFill>
                  <a:srgbClr val="059669"/>
                </a:solidFill>
              </a:defRPr>
            </a:pPr>
            <a:r>
              <a:t>Event Publication Form (Date Chronology, Capacity &amp; Status Rules)</a:t>
            </a:r>
          </a:p>
        </p:txBody>
      </p:sp>
      <p:sp>
        <p:nvSpPr>
          <p:cNvPr id="13" name="Rounded Rectangle 12"/>
          <p:cNvSpPr/>
          <p:nvPr/>
        </p:nvSpPr>
        <p:spPr>
          <a:xfrm>
            <a:off x="731520" y="5486400"/>
            <a:ext cx="106984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532120"/>
            <a:ext cx="10332720" cy="777240"/>
          </a:xfrm>
          <a:prstGeom prst="rect">
            <a:avLst/>
          </a:prstGeom>
          <a:noFill/>
        </p:spPr>
        <p:txBody>
          <a:bodyPr wrap="none">
            <a:spAutoFit/>
          </a:bodyPr>
          <a:lstStyle/>
          <a:p>
            <a:pPr>
              <a:defRPr b="1" sz="1100">
                <a:solidFill>
                  <a:srgbClr val="0F172A"/>
                </a:solidFill>
              </a:defRPr>
            </a:pPr>
            <a:r>
              <a:t>Faculty Administrative Powers:  </a:t>
            </a:r>
            <a:r>
              <a:rPr sz="1100">
                <a:solidFill>
                  <a:srgbClr val="64748B"/>
                </a:solidFill>
              </a:rPr>
              <a:t>Live analytics cards (Total Events, Students, Confirmed Bookings), event CRUD with capacity safety bounds, attendee search by roll ID, and automated CSV spreadsheet export.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SERVER ARCHITECTURE</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Backend &amp; API Integration: RESTful Endpoints Architecture</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28016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325880"/>
            <a:ext cx="4937760" cy="777240"/>
          </a:xfrm>
          <a:prstGeom prst="rect">
            <a:avLst/>
          </a:prstGeom>
          <a:noFill/>
        </p:spPr>
        <p:txBody>
          <a:bodyPr wrap="square">
            <a:spAutoFit/>
          </a:bodyPr>
          <a:lstStyle/>
          <a:p>
            <a:pPr>
              <a:defRPr sz="1100" b="1">
                <a:solidFill>
                  <a:srgbClr val="1D4ED8"/>
                </a:solidFill>
              </a:defRPr>
            </a:pPr>
            <a:r>
              <a:t>POST /api/auth/register</a:t>
            </a:r>
            <a:r>
              <a:rPr sz="950" b="1">
                <a:solidFill>
                  <a:srgbClr val="059669"/>
                </a:solidFill>
              </a:rPr>
              <a:t>  [Public]</a:t>
            </a:r>
          </a:p>
          <a:p>
            <a:pPr>
              <a:defRPr sz="950">
                <a:solidFill>
                  <a:srgbClr val="64748B"/>
                </a:solidFill>
              </a:defRPr>
            </a:pPr>
            <a:r>
              <a:t>Student registration with bcrypt password hashing and JWT issuance.</a:t>
            </a:r>
          </a:p>
        </p:txBody>
      </p:sp>
      <p:sp>
        <p:nvSpPr>
          <p:cNvPr id="9" name="Rounded Rectangle 8"/>
          <p:cNvSpPr/>
          <p:nvPr/>
        </p:nvSpPr>
        <p:spPr>
          <a:xfrm>
            <a:off x="6217920" y="128016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325880"/>
            <a:ext cx="4937760" cy="777240"/>
          </a:xfrm>
          <a:prstGeom prst="rect">
            <a:avLst/>
          </a:prstGeom>
          <a:noFill/>
        </p:spPr>
        <p:txBody>
          <a:bodyPr wrap="square">
            <a:spAutoFit/>
          </a:bodyPr>
          <a:lstStyle/>
          <a:p>
            <a:pPr>
              <a:defRPr sz="1100" b="1">
                <a:solidFill>
                  <a:srgbClr val="1D4ED8"/>
                </a:solidFill>
              </a:defRPr>
            </a:pPr>
            <a:r>
              <a:t>POST /api/auth/login</a:t>
            </a:r>
            <a:r>
              <a:rPr sz="950" b="1">
                <a:solidFill>
                  <a:srgbClr val="059669"/>
                </a:solidFill>
              </a:rPr>
              <a:t>  [Public]</a:t>
            </a:r>
          </a:p>
          <a:p>
            <a:pPr>
              <a:defRPr sz="950">
                <a:solidFill>
                  <a:srgbClr val="64748B"/>
                </a:solidFill>
              </a:defRPr>
            </a:pPr>
            <a:r>
              <a:t>User authentication; returns token and role payload.</a:t>
            </a:r>
          </a:p>
        </p:txBody>
      </p:sp>
      <p:sp>
        <p:nvSpPr>
          <p:cNvPr id="11" name="Rounded Rectangle 10"/>
          <p:cNvSpPr/>
          <p:nvPr/>
        </p:nvSpPr>
        <p:spPr>
          <a:xfrm>
            <a:off x="731520" y="228600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2331720"/>
            <a:ext cx="4937760" cy="777240"/>
          </a:xfrm>
          <a:prstGeom prst="rect">
            <a:avLst/>
          </a:prstGeom>
          <a:noFill/>
        </p:spPr>
        <p:txBody>
          <a:bodyPr wrap="square">
            <a:spAutoFit/>
          </a:bodyPr>
          <a:lstStyle/>
          <a:p>
            <a:pPr>
              <a:defRPr sz="1100" b="1">
                <a:solidFill>
                  <a:srgbClr val="1D4ED8"/>
                </a:solidFill>
              </a:defRPr>
            </a:pPr>
            <a:r>
              <a:t>GET  /api/events</a:t>
            </a:r>
            <a:r>
              <a:rPr sz="950" b="1">
                <a:solidFill>
                  <a:srgbClr val="059669"/>
                </a:solidFill>
              </a:rPr>
              <a:t>  [Public]</a:t>
            </a:r>
          </a:p>
          <a:p>
            <a:pPr>
              <a:defRPr sz="950">
                <a:solidFill>
                  <a:srgbClr val="64748B"/>
                </a:solidFill>
              </a:defRPr>
            </a:pPr>
            <a:r>
              <a:t>Query events with search, category filters, and pagination parameters.</a:t>
            </a:r>
          </a:p>
        </p:txBody>
      </p:sp>
      <p:sp>
        <p:nvSpPr>
          <p:cNvPr id="13" name="Rounded Rectangle 12"/>
          <p:cNvSpPr/>
          <p:nvPr/>
        </p:nvSpPr>
        <p:spPr>
          <a:xfrm>
            <a:off x="6217920" y="228600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331720"/>
            <a:ext cx="4937760" cy="777240"/>
          </a:xfrm>
          <a:prstGeom prst="rect">
            <a:avLst/>
          </a:prstGeom>
          <a:noFill/>
        </p:spPr>
        <p:txBody>
          <a:bodyPr wrap="square">
            <a:spAutoFit/>
          </a:bodyPr>
          <a:lstStyle/>
          <a:p>
            <a:pPr>
              <a:defRPr sz="1100" b="1">
                <a:solidFill>
                  <a:srgbClr val="1D4ED8"/>
                </a:solidFill>
              </a:defRPr>
            </a:pPr>
            <a:r>
              <a:t>GET  /api/events/:id</a:t>
            </a:r>
            <a:r>
              <a:rPr sz="950" b="1">
                <a:solidFill>
                  <a:srgbClr val="059669"/>
                </a:solidFill>
              </a:rPr>
              <a:t>  [Public / Auth]</a:t>
            </a:r>
          </a:p>
          <a:p>
            <a:pPr>
              <a:defRPr sz="950">
                <a:solidFill>
                  <a:srgbClr val="64748B"/>
                </a:solidFill>
              </a:defRPr>
            </a:pPr>
            <a:r>
              <a:t>Event details with current user's registration status badge.</a:t>
            </a:r>
          </a:p>
        </p:txBody>
      </p:sp>
      <p:sp>
        <p:nvSpPr>
          <p:cNvPr id="15" name="Rounded Rectangle 14"/>
          <p:cNvSpPr/>
          <p:nvPr/>
        </p:nvSpPr>
        <p:spPr>
          <a:xfrm>
            <a:off x="731520" y="329184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3337560"/>
            <a:ext cx="4937760" cy="777240"/>
          </a:xfrm>
          <a:prstGeom prst="rect">
            <a:avLst/>
          </a:prstGeom>
          <a:noFill/>
        </p:spPr>
        <p:txBody>
          <a:bodyPr wrap="square">
            <a:spAutoFit/>
          </a:bodyPr>
          <a:lstStyle/>
          <a:p>
            <a:pPr>
              <a:defRPr sz="1100" b="1">
                <a:solidFill>
                  <a:srgbClr val="1D4ED8"/>
                </a:solidFill>
              </a:defRPr>
            </a:pPr>
            <a:r>
              <a:t>POST /api/events</a:t>
            </a:r>
            <a:r>
              <a:rPr sz="950" b="1">
                <a:solidFill>
                  <a:srgbClr val="D97706"/>
                </a:solidFill>
              </a:rPr>
              <a:t>  [Admin Only]</a:t>
            </a:r>
          </a:p>
          <a:p>
            <a:pPr>
              <a:defRPr sz="950">
                <a:solidFill>
                  <a:srgbClr val="64748B"/>
                </a:solidFill>
              </a:defRPr>
            </a:pPr>
            <a:r>
              <a:t>Create campus event with capacity and chronological date rules.</a:t>
            </a:r>
          </a:p>
        </p:txBody>
      </p:sp>
      <p:sp>
        <p:nvSpPr>
          <p:cNvPr id="17" name="Rounded Rectangle 16"/>
          <p:cNvSpPr/>
          <p:nvPr/>
        </p:nvSpPr>
        <p:spPr>
          <a:xfrm>
            <a:off x="6217920" y="329184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337560"/>
            <a:ext cx="4937760" cy="777240"/>
          </a:xfrm>
          <a:prstGeom prst="rect">
            <a:avLst/>
          </a:prstGeom>
          <a:noFill/>
        </p:spPr>
        <p:txBody>
          <a:bodyPr wrap="square">
            <a:spAutoFit/>
          </a:bodyPr>
          <a:lstStyle/>
          <a:p>
            <a:pPr>
              <a:defRPr sz="1100" b="1">
                <a:solidFill>
                  <a:srgbClr val="1D4ED8"/>
                </a:solidFill>
              </a:defRPr>
            </a:pPr>
            <a:r>
              <a:t>POST /api/registrations/:id</a:t>
            </a:r>
            <a:r>
              <a:rPr sz="950" b="1">
                <a:solidFill>
                  <a:srgbClr val="D97706"/>
                </a:solidFill>
              </a:rPr>
              <a:t>  [Student]</a:t>
            </a:r>
          </a:p>
          <a:p>
            <a:pPr>
              <a:defRPr sz="950">
                <a:solidFill>
                  <a:srgbClr val="64748B"/>
                </a:solidFill>
              </a:defRPr>
            </a:pPr>
            <a:r>
              <a:t>Atomic seat reservation with conditional concurrency check.</a:t>
            </a:r>
          </a:p>
        </p:txBody>
      </p:sp>
      <p:sp>
        <p:nvSpPr>
          <p:cNvPr id="19" name="Rounded Rectangle 18"/>
          <p:cNvSpPr/>
          <p:nvPr/>
        </p:nvSpPr>
        <p:spPr>
          <a:xfrm>
            <a:off x="731520" y="429768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680" y="4343400"/>
            <a:ext cx="4937760" cy="777240"/>
          </a:xfrm>
          <a:prstGeom prst="rect">
            <a:avLst/>
          </a:prstGeom>
          <a:noFill/>
        </p:spPr>
        <p:txBody>
          <a:bodyPr wrap="square">
            <a:spAutoFit/>
          </a:bodyPr>
          <a:lstStyle/>
          <a:p>
            <a:pPr>
              <a:defRPr sz="1100" b="1">
                <a:solidFill>
                  <a:srgbClr val="1D4ED8"/>
                </a:solidFill>
              </a:defRPr>
            </a:pPr>
            <a:r>
              <a:t>DELETE /api/registrations/:id</a:t>
            </a:r>
            <a:r>
              <a:rPr sz="950" b="1">
                <a:solidFill>
                  <a:srgbClr val="D97706"/>
                </a:solidFill>
              </a:rPr>
              <a:t>  [Student]</a:t>
            </a:r>
          </a:p>
          <a:p>
            <a:pPr>
              <a:defRPr sz="950">
                <a:solidFill>
                  <a:srgbClr val="64748B"/>
                </a:solidFill>
              </a:defRPr>
            </a:pPr>
            <a:r>
              <a:t>Cancel upcoming registration; restores seat capacity count.</a:t>
            </a:r>
          </a:p>
        </p:txBody>
      </p:sp>
      <p:sp>
        <p:nvSpPr>
          <p:cNvPr id="21" name="Rounded Rectangle 20"/>
          <p:cNvSpPr/>
          <p:nvPr/>
        </p:nvSpPr>
        <p:spPr>
          <a:xfrm>
            <a:off x="6217920" y="429768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4343400"/>
            <a:ext cx="4937760" cy="777240"/>
          </a:xfrm>
          <a:prstGeom prst="rect">
            <a:avLst/>
          </a:prstGeom>
          <a:noFill/>
        </p:spPr>
        <p:txBody>
          <a:bodyPr wrap="square">
            <a:spAutoFit/>
          </a:bodyPr>
          <a:lstStyle/>
          <a:p>
            <a:pPr>
              <a:defRPr sz="1100" b="1">
                <a:solidFill>
                  <a:srgbClr val="1D4ED8"/>
                </a:solidFill>
              </a:defRPr>
            </a:pPr>
            <a:r>
              <a:t>GET  /api/admin/dashboard</a:t>
            </a:r>
            <a:r>
              <a:rPr sz="950" b="1">
                <a:solidFill>
                  <a:srgbClr val="D97706"/>
                </a:solidFill>
              </a:rPr>
              <a:t>  [Admin Only]</a:t>
            </a:r>
          </a:p>
          <a:p>
            <a:pPr>
              <a:defRPr sz="950">
                <a:solidFill>
                  <a:srgbClr val="64748B"/>
                </a:solidFill>
              </a:defRPr>
            </a:pPr>
            <a:r>
              <a:t>Platform metrics, category distribution, and capacity table.</a:t>
            </a:r>
          </a:p>
        </p:txBody>
      </p:sp>
      <p:sp>
        <p:nvSpPr>
          <p:cNvPr id="23" name="Rounded Rectangle 22"/>
          <p:cNvSpPr/>
          <p:nvPr/>
        </p:nvSpPr>
        <p:spPr>
          <a:xfrm>
            <a:off x="731520" y="5303520"/>
            <a:ext cx="5212080" cy="868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68680" y="5349240"/>
            <a:ext cx="4937760" cy="777240"/>
          </a:xfrm>
          <a:prstGeom prst="rect">
            <a:avLst/>
          </a:prstGeom>
          <a:noFill/>
        </p:spPr>
        <p:txBody>
          <a:bodyPr wrap="square">
            <a:spAutoFit/>
          </a:bodyPr>
          <a:lstStyle/>
          <a:p>
            <a:pPr>
              <a:defRPr sz="1100" b="1">
                <a:solidFill>
                  <a:srgbClr val="1D4ED8"/>
                </a:solidFill>
              </a:defRPr>
            </a:pPr>
            <a:r>
              <a:t>GET  /api/admin/registrations/export/:id</a:t>
            </a:r>
            <a:r>
              <a:rPr sz="950" b="1">
                <a:solidFill>
                  <a:srgbClr val="D97706"/>
                </a:solidFill>
              </a:rPr>
              <a:t>  [Admin Only]</a:t>
            </a:r>
          </a:p>
          <a:p>
            <a:pPr>
              <a:defRPr sz="950">
                <a:solidFill>
                  <a:srgbClr val="64748B"/>
                </a:solidFill>
              </a:defRPr>
            </a:pPr>
            <a:r>
              <a:t>Generates downloadable CSV file stream of event attendees.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SYSTEM SECURITY</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Input Validation &amp; Security Safeguards</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109728" cy="219456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1508760"/>
            <a:ext cx="4754880" cy="1920240"/>
          </a:xfrm>
          <a:prstGeom prst="rect">
            <a:avLst/>
          </a:prstGeom>
          <a:noFill/>
        </p:spPr>
        <p:txBody>
          <a:bodyPr wrap="square">
            <a:spAutoFit/>
          </a:bodyPr>
          <a:lstStyle/>
          <a:p>
            <a:pPr>
              <a:defRPr sz="1400" b="1">
                <a:solidFill>
                  <a:srgbClr val="1D4ED8"/>
                </a:solidFill>
              </a:defRPr>
            </a:pPr>
            <a:r>
              <a:t>Client-Side Validation (React)</a:t>
            </a:r>
          </a:p>
          <a:p>
            <a:pPr>
              <a:spcBef>
                <a:spcPts val="300"/>
              </a:spcBef>
              <a:defRPr sz="1050">
                <a:solidFill>
                  <a:srgbClr val="0F172A"/>
                </a:solidFill>
              </a:defRPr>
            </a:pPr>
            <a:r>
              <a:t>✔  Email regex pattern validation</a:t>
            </a:r>
          </a:p>
          <a:p>
            <a:pPr>
              <a:spcBef>
                <a:spcPts val="300"/>
              </a:spcBef>
              <a:defRPr sz="1050">
                <a:solidFill>
                  <a:srgbClr val="0F172A"/>
                </a:solidFill>
              </a:defRPr>
            </a:pPr>
            <a:r>
              <a:t>✔  Minimum password length (6+ characters)</a:t>
            </a:r>
          </a:p>
          <a:p>
            <a:pPr>
              <a:spcBef>
                <a:spcPts val="300"/>
              </a:spcBef>
              <a:defRPr sz="1050">
                <a:solidFill>
                  <a:srgbClr val="0F172A"/>
                </a:solidFill>
              </a:defRPr>
            </a:pPr>
            <a:r>
              <a:t>✔  Confirm password matching parity</a:t>
            </a:r>
          </a:p>
          <a:p>
            <a:pPr>
              <a:spcBef>
                <a:spcPts val="300"/>
              </a:spcBef>
              <a:defRPr sz="1050">
                <a:solidFill>
                  <a:srgbClr val="0F172A"/>
                </a:solidFill>
              </a:defRPr>
            </a:pPr>
            <a:r>
              <a:t>✔  Required field indicators and instant feedback</a:t>
            </a:r>
          </a:p>
        </p:txBody>
      </p:sp>
      <p:sp>
        <p:nvSpPr>
          <p:cNvPr id="10" name="Rounded Rectangle 9"/>
          <p:cNvSpPr/>
          <p:nvPr/>
        </p:nvSpPr>
        <p:spPr>
          <a:xfrm>
            <a:off x="6217920" y="137160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371600"/>
            <a:ext cx="109728" cy="219456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508760"/>
            <a:ext cx="4754880" cy="1920240"/>
          </a:xfrm>
          <a:prstGeom prst="rect">
            <a:avLst/>
          </a:prstGeom>
          <a:noFill/>
        </p:spPr>
        <p:txBody>
          <a:bodyPr wrap="square">
            <a:spAutoFit/>
          </a:bodyPr>
          <a:lstStyle/>
          <a:p>
            <a:pPr>
              <a:defRPr sz="1400" b="1">
                <a:solidFill>
                  <a:srgbClr val="059669"/>
                </a:solidFill>
              </a:defRPr>
            </a:pPr>
            <a:r>
              <a:t>Server-Side Validation (Express)</a:t>
            </a:r>
          </a:p>
          <a:p>
            <a:pPr>
              <a:spcBef>
                <a:spcPts val="300"/>
              </a:spcBef>
              <a:defRPr sz="1050">
                <a:solidFill>
                  <a:srgbClr val="0F172A"/>
                </a:solidFill>
              </a:defRPr>
            </a:pPr>
            <a:r>
              <a:t>✔  express-validator schema sanitization</a:t>
            </a:r>
          </a:p>
          <a:p>
            <a:pPr>
              <a:spcBef>
                <a:spcPts val="300"/>
              </a:spcBef>
              <a:defRPr sz="1050">
                <a:solidFill>
                  <a:srgbClr val="0F172A"/>
                </a:solidFill>
              </a:defRPr>
            </a:pPr>
            <a:r>
              <a:t>✔  Chronological checks: deadline &lt;= event date</a:t>
            </a:r>
          </a:p>
          <a:p>
            <a:pPr>
              <a:spcBef>
                <a:spcPts val="300"/>
              </a:spcBef>
              <a:defRPr sz="1050">
                <a:solidFill>
                  <a:srgbClr val="0F172A"/>
                </a:solidFill>
              </a:defRPr>
            </a:pPr>
            <a:r>
              <a:t>✔  Capacity bounds: positive integer &gt;= 1</a:t>
            </a:r>
          </a:p>
          <a:p>
            <a:pPr>
              <a:spcBef>
                <a:spcPts val="300"/>
              </a:spcBef>
              <a:defRPr sz="1050">
                <a:solidFill>
                  <a:srgbClr val="0F172A"/>
                </a:solidFill>
              </a:defRPr>
            </a:pPr>
            <a:r>
              <a:t>✔  ObjectId format verification (isMongoId)</a:t>
            </a:r>
          </a:p>
        </p:txBody>
      </p:sp>
      <p:sp>
        <p:nvSpPr>
          <p:cNvPr id="13" name="Rounded Rectangle 12"/>
          <p:cNvSpPr/>
          <p:nvPr/>
        </p:nvSpPr>
        <p:spPr>
          <a:xfrm>
            <a:off x="731520" y="384048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3840480"/>
            <a:ext cx="109728" cy="219456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3977640"/>
            <a:ext cx="4754880" cy="1920240"/>
          </a:xfrm>
          <a:prstGeom prst="rect">
            <a:avLst/>
          </a:prstGeom>
          <a:noFill/>
        </p:spPr>
        <p:txBody>
          <a:bodyPr wrap="square">
            <a:spAutoFit/>
          </a:bodyPr>
          <a:lstStyle/>
          <a:p>
            <a:pPr>
              <a:defRPr sz="1400" b="1">
                <a:solidFill>
                  <a:srgbClr val="1E293B"/>
                </a:solidFill>
              </a:defRPr>
            </a:pPr>
            <a:r>
              <a:t>Authentication &amp; Authorization</a:t>
            </a:r>
          </a:p>
          <a:p>
            <a:pPr>
              <a:spcBef>
                <a:spcPts val="300"/>
              </a:spcBef>
              <a:defRPr sz="1050">
                <a:solidFill>
                  <a:srgbClr val="0F172A"/>
                </a:solidFill>
              </a:defRPr>
            </a:pPr>
            <a:r>
              <a:t>✔  Bcrypt password hashing (10 salt rounds)</a:t>
            </a:r>
          </a:p>
          <a:p>
            <a:pPr>
              <a:spcBef>
                <a:spcPts val="300"/>
              </a:spcBef>
              <a:defRPr sz="1050">
                <a:solidFill>
                  <a:srgbClr val="0F172A"/>
                </a:solidFill>
              </a:defRPr>
            </a:pPr>
            <a:r>
              <a:t>✔  Stateless 7-day HMAC-SHA256 JWT tokens</a:t>
            </a:r>
          </a:p>
          <a:p>
            <a:pPr>
              <a:spcBef>
                <a:spcPts val="300"/>
              </a:spcBef>
              <a:defRPr sz="1050">
                <a:solidFill>
                  <a:srgbClr val="0F172A"/>
                </a:solidFill>
              </a:defRPr>
            </a:pPr>
            <a:r>
              <a:t>✔  Role-Based Access Control (Student vs Admin)</a:t>
            </a:r>
          </a:p>
          <a:p>
            <a:pPr>
              <a:spcBef>
                <a:spcPts val="300"/>
              </a:spcBef>
              <a:defRPr sz="1050">
                <a:solidFill>
                  <a:srgbClr val="0F172A"/>
                </a:solidFill>
              </a:defRPr>
            </a:pPr>
            <a:r>
              <a:t>✔  ProtectedRoute and AdminRoute guards</a:t>
            </a:r>
          </a:p>
        </p:txBody>
      </p:sp>
      <p:sp>
        <p:nvSpPr>
          <p:cNvPr id="16" name="Rounded Rectangle 15"/>
          <p:cNvSpPr/>
          <p:nvPr/>
        </p:nvSpPr>
        <p:spPr>
          <a:xfrm>
            <a:off x="6217920" y="3840480"/>
            <a:ext cx="5212080" cy="2194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17920" y="3840480"/>
            <a:ext cx="109728" cy="21945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977640"/>
            <a:ext cx="4754880" cy="1920240"/>
          </a:xfrm>
          <a:prstGeom prst="rect">
            <a:avLst/>
          </a:prstGeom>
          <a:noFill/>
        </p:spPr>
        <p:txBody>
          <a:bodyPr wrap="square">
            <a:spAutoFit/>
          </a:bodyPr>
          <a:lstStyle/>
          <a:p>
            <a:pPr>
              <a:defRPr sz="1400" b="1">
                <a:solidFill>
                  <a:srgbClr val="D97706"/>
                </a:solidFill>
              </a:defRPr>
            </a:pPr>
            <a:r>
              <a:t>Infrastructure Hardening</a:t>
            </a:r>
          </a:p>
          <a:p>
            <a:pPr>
              <a:spcBef>
                <a:spcPts val="300"/>
              </a:spcBef>
              <a:defRPr sz="1050">
                <a:solidFill>
                  <a:srgbClr val="0F172A"/>
                </a:solidFill>
              </a:defRPr>
            </a:pPr>
            <a:r>
              <a:t>✔  Helmet HTTP security response headers</a:t>
            </a:r>
          </a:p>
          <a:p>
            <a:pPr>
              <a:spcBef>
                <a:spcPts val="300"/>
              </a:spcBef>
              <a:defRPr sz="1050">
                <a:solidFill>
                  <a:srgbClr val="0F172A"/>
                </a:solidFill>
              </a:defRPr>
            </a:pPr>
            <a:r>
              <a:t>✔  CORS restricted to authorized origins</a:t>
            </a:r>
          </a:p>
          <a:p>
            <a:pPr>
              <a:spcBef>
                <a:spcPts val="300"/>
              </a:spcBef>
              <a:defRPr sz="1050">
                <a:solidFill>
                  <a:srgbClr val="0F172A"/>
                </a:solidFill>
              </a:defRPr>
            </a:pPr>
            <a:r>
              <a:t>✔  express-rate-limit brute force protection</a:t>
            </a:r>
          </a:p>
          <a:p>
            <a:pPr>
              <a:spcBef>
                <a:spcPts val="300"/>
              </a:spcBef>
              <a:defRPr sz="1050">
                <a:solidFill>
                  <a:srgbClr val="0F172A"/>
                </a:solidFill>
              </a:defRPr>
            </a:pPr>
            <a:r>
              <a:t>✔  Environment variables (.env) for credentials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DATABASE VERIFICATION</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MongoDB Data Integrity: Event &amp; Registration Persistence</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9_attendee_roster.png"/>
          <p:cNvPicPr>
            <a:picLocks noChangeAspect="1"/>
          </p:cNvPicPr>
          <p:nvPr/>
        </p:nvPicPr>
        <p:blipFill>
          <a:blip r:embed="rId2"/>
          <a:stretch>
            <a:fillRect/>
          </a:stretch>
        </p:blipFill>
        <p:spPr>
          <a:xfrm>
            <a:off x="822960" y="1463040"/>
            <a:ext cx="5029200" cy="3931920"/>
          </a:xfrm>
          <a:prstGeom prst="rect">
            <a:avLst/>
          </a:prstGeom>
        </p:spPr>
      </p:pic>
      <p:sp>
        <p:nvSpPr>
          <p:cNvPr id="9" name="TextBox 8"/>
          <p:cNvSpPr txBox="1"/>
          <p:nvPr/>
        </p:nvSpPr>
        <p:spPr>
          <a:xfrm>
            <a:off x="822960" y="5532120"/>
            <a:ext cx="5029200" cy="502920"/>
          </a:xfrm>
          <a:prstGeom prst="rect">
            <a:avLst/>
          </a:prstGeom>
          <a:noFill/>
        </p:spPr>
        <p:txBody>
          <a:bodyPr wrap="none">
            <a:spAutoFit/>
          </a:bodyPr>
          <a:lstStyle/>
          <a:p>
            <a:pPr>
              <a:defRPr sz="1050" b="1">
                <a:solidFill>
                  <a:srgbClr val="1D4ED8"/>
                </a:solidFill>
              </a:defRPr>
            </a:pPr>
            <a:r>
              <a:t>Attendee Roster View Generated from MongoDB Registrations Collection</a:t>
            </a:r>
          </a:p>
        </p:txBody>
      </p:sp>
      <p:sp>
        <p:nvSpPr>
          <p:cNvPr id="10" name="Rounded Rectangle 9"/>
          <p:cNvSpPr/>
          <p:nvPr/>
        </p:nvSpPr>
        <p:spPr>
          <a:xfrm>
            <a:off x="62179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554480"/>
            <a:ext cx="4663440" cy="4389120"/>
          </a:xfrm>
          <a:prstGeom prst="rect">
            <a:avLst/>
          </a:prstGeom>
          <a:noFill/>
        </p:spPr>
        <p:txBody>
          <a:bodyPr wrap="square">
            <a:spAutoFit/>
          </a:bodyPr>
          <a:lstStyle/>
          <a:p>
            <a:pPr>
              <a:defRPr sz="1700" b="1">
                <a:solidFill>
                  <a:srgbClr val="059669"/>
                </a:solidFill>
              </a:defRPr>
            </a:pPr>
            <a:r>
              <a:t>Physical Document Separation</a:t>
            </a:r>
          </a:p>
          <a:p>
            <a:pPr>
              <a:spcBef>
                <a:spcPts val="600"/>
              </a:spcBef>
            </a:pPr>
            <a:r>
              <a:rPr b="1" sz="1150">
                <a:solidFill>
                  <a:srgbClr val="1D4ED8"/>
                </a:solidFill>
              </a:rPr>
              <a:t>Event Document (events collection):
</a:t>
            </a:r>
            <a:r>
              <a:rPr sz="1050">
                <a:solidFill>
                  <a:srgbClr val="64748B"/>
                </a:solidFill>
              </a:rPr>
              <a:t>Stores title, category, date, venue, capacity (e.g. 120), and registeredCount (e.g. 3).</a:t>
            </a:r>
          </a:p>
          <a:p>
            <a:pPr>
              <a:spcBef>
                <a:spcPts val="600"/>
              </a:spcBef>
            </a:pPr>
            <a:r>
              <a:rPr b="1" sz="1150">
                <a:solidFill>
                  <a:srgbClr val="1D4ED8"/>
                </a:solidFill>
              </a:rPr>
              <a:t>Registration Document (registrations):
</a:t>
            </a:r>
            <a:r>
              <a:rPr sz="1050">
                <a:solidFill>
                  <a:srgbClr val="64748B"/>
                </a:solidFill>
              </a:rPr>
              <a:t>Stores individual attendee records referencing student: ObjectId and event: ObjectId, with status: 'confirmed'.</a:t>
            </a:r>
          </a:p>
          <a:p>
            <a:pPr>
              <a:spcBef>
                <a:spcPts val="600"/>
              </a:spcBef>
            </a:pPr>
            <a:r>
              <a:rPr b="1" sz="1150">
                <a:solidFill>
                  <a:srgbClr val="1D4ED8"/>
                </a:solidFill>
              </a:rPr>
              <a:t>Referential Integrity via Mongoose:
</a:t>
            </a:r>
            <a:r>
              <a:rPr sz="1050">
                <a:solidFill>
                  <a:srgbClr val="64748B"/>
                </a:solidFill>
              </a:rPr>
              <a:t>populate('student') and populate('event') dynamically join records without monolithic tables.</a:t>
            </a:r>
          </a:p>
          <a:p>
            <a:pPr>
              <a:spcBef>
                <a:spcPts val="600"/>
              </a:spcBef>
            </a:pPr>
            <a:r>
              <a:rPr b="1" sz="1150">
                <a:solidFill>
                  <a:srgbClr val="1D4ED8"/>
                </a:solidFill>
              </a:rPr>
              <a:t>Compound Unique Index Integrity:
</a:t>
            </a:r>
            <a:r>
              <a:rPr sz="1050">
                <a:solidFill>
                  <a:srgbClr val="64748B"/>
                </a:solidFill>
              </a:rPr>
              <a:t>index({ student: 1, event: 1 }, { unique: true }) ensures that even if concurrent network calls race, only ONE registration document is ever created.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QUALITY ASSURANCE</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Testing Methodology &amp; Verification Results</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280160"/>
            <a:ext cx="256032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71600"/>
            <a:ext cx="2377440" cy="868680"/>
          </a:xfrm>
          <a:prstGeom prst="rect">
            <a:avLst/>
          </a:prstGeom>
          <a:noFill/>
        </p:spPr>
        <p:txBody>
          <a:bodyPr wrap="none">
            <a:spAutoFit/>
          </a:bodyPr>
          <a:lstStyle/>
          <a:p>
            <a:pPr algn="ctr">
              <a:defRPr sz="2000" b="1">
                <a:solidFill>
                  <a:srgbClr val="059669"/>
                </a:solidFill>
              </a:defRPr>
            </a:pPr>
            <a:r>
              <a:t>21 / 21</a:t>
            </a:r>
          </a:p>
          <a:p>
            <a:pPr algn="ctr">
              <a:defRPr sz="950">
                <a:solidFill>
                  <a:srgbClr val="64748B"/>
                </a:solidFill>
              </a:defRPr>
            </a:pPr>
            <a:r>
              <a:t>Automated API Tests Passed</a:t>
            </a:r>
          </a:p>
        </p:txBody>
      </p:sp>
      <p:sp>
        <p:nvSpPr>
          <p:cNvPr id="9" name="Rounded Rectangle 8"/>
          <p:cNvSpPr/>
          <p:nvPr/>
        </p:nvSpPr>
        <p:spPr>
          <a:xfrm>
            <a:off x="3429000" y="1280160"/>
            <a:ext cx="256032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371600"/>
            <a:ext cx="2377440" cy="868680"/>
          </a:xfrm>
          <a:prstGeom prst="rect">
            <a:avLst/>
          </a:prstGeom>
          <a:noFill/>
        </p:spPr>
        <p:txBody>
          <a:bodyPr wrap="none">
            <a:spAutoFit/>
          </a:bodyPr>
          <a:lstStyle/>
          <a:p>
            <a:pPr algn="ctr">
              <a:defRPr sz="2000" b="1">
                <a:solidFill>
                  <a:srgbClr val="1D4ED8"/>
                </a:solidFill>
              </a:defRPr>
            </a:pPr>
            <a:r>
              <a:t>25 / 25</a:t>
            </a:r>
          </a:p>
          <a:p>
            <a:pPr algn="ctr">
              <a:defRPr sz="950">
                <a:solidFill>
                  <a:srgbClr val="64748B"/>
                </a:solidFill>
              </a:defRPr>
            </a:pPr>
            <a:r>
              <a:t>Documented Test Scenarios Passed</a:t>
            </a:r>
          </a:p>
        </p:txBody>
      </p:sp>
      <p:sp>
        <p:nvSpPr>
          <p:cNvPr id="11" name="Rounded Rectangle 10"/>
          <p:cNvSpPr/>
          <p:nvPr/>
        </p:nvSpPr>
        <p:spPr>
          <a:xfrm>
            <a:off x="6126480" y="1280160"/>
            <a:ext cx="256032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0" y="1371600"/>
            <a:ext cx="2377440" cy="868680"/>
          </a:xfrm>
          <a:prstGeom prst="rect">
            <a:avLst/>
          </a:prstGeom>
          <a:noFill/>
        </p:spPr>
        <p:txBody>
          <a:bodyPr wrap="none">
            <a:spAutoFit/>
          </a:bodyPr>
          <a:lstStyle/>
          <a:p>
            <a:pPr algn="ctr">
              <a:defRPr sz="2000" b="1">
                <a:solidFill>
                  <a:srgbClr val="1E293B"/>
                </a:solidFill>
              </a:defRPr>
            </a:pPr>
            <a:r>
              <a:t>100%</a:t>
            </a:r>
          </a:p>
          <a:p>
            <a:pPr algn="ctr">
              <a:defRPr sz="950">
                <a:solidFill>
                  <a:srgbClr val="64748B"/>
                </a:solidFill>
              </a:defRPr>
            </a:pPr>
            <a:r>
              <a:t>Test Pass Rate</a:t>
            </a:r>
          </a:p>
        </p:txBody>
      </p:sp>
      <p:sp>
        <p:nvSpPr>
          <p:cNvPr id="13" name="Rounded Rectangle 12"/>
          <p:cNvSpPr/>
          <p:nvPr/>
        </p:nvSpPr>
        <p:spPr>
          <a:xfrm>
            <a:off x="8823960" y="1280160"/>
            <a:ext cx="2560320" cy="10515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15400" y="1371600"/>
            <a:ext cx="2377440" cy="868680"/>
          </a:xfrm>
          <a:prstGeom prst="rect">
            <a:avLst/>
          </a:prstGeom>
          <a:noFill/>
        </p:spPr>
        <p:txBody>
          <a:bodyPr wrap="none">
            <a:spAutoFit/>
          </a:bodyPr>
          <a:lstStyle/>
          <a:p>
            <a:pPr algn="ctr">
              <a:defRPr sz="2000" b="1">
                <a:solidFill>
                  <a:srgbClr val="D97706"/>
                </a:solidFill>
              </a:defRPr>
            </a:pPr>
            <a:r>
              <a:t>1.16s</a:t>
            </a:r>
          </a:p>
          <a:p>
            <a:pPr algn="ctr">
              <a:defRPr sz="950">
                <a:solidFill>
                  <a:srgbClr val="64748B"/>
                </a:solidFill>
              </a:defRPr>
            </a:pPr>
            <a:r>
              <a:t>Vite Production Build Time</a:t>
            </a:r>
          </a:p>
        </p:txBody>
      </p:sp>
      <p:sp>
        <p:nvSpPr>
          <p:cNvPr id="15" name="Rounded Rectangle 14"/>
          <p:cNvSpPr/>
          <p:nvPr/>
        </p:nvSpPr>
        <p:spPr>
          <a:xfrm>
            <a:off x="731520" y="2514600"/>
            <a:ext cx="10698480"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2651760"/>
            <a:ext cx="10332720" cy="3383280"/>
          </a:xfrm>
          <a:prstGeom prst="rect">
            <a:avLst/>
          </a:prstGeom>
          <a:noFill/>
        </p:spPr>
        <p:txBody>
          <a:bodyPr wrap="square">
            <a:spAutoFit/>
          </a:bodyPr>
          <a:lstStyle/>
          <a:p>
            <a:pPr>
              <a:defRPr sz="1300" b="1">
                <a:solidFill>
                  <a:srgbClr val="0F172A"/>
                </a:solidFill>
              </a:defRPr>
            </a:pPr>
            <a:r>
              <a:t>Key Verified Test Scenarios (Sample Matrix):</a:t>
            </a:r>
          </a:p>
          <a:p>
            <a:pPr>
              <a:spcBef>
                <a:spcPts val="300"/>
              </a:spcBef>
            </a:pPr>
            <a:r>
              <a:rPr b="1" sz="1000">
                <a:solidFill>
                  <a:srgbClr val="1D4ED8"/>
                </a:solidFill>
              </a:rPr>
              <a:t>[TC-01] Student Registration: </a:t>
            </a:r>
            <a:r>
              <a:rPr sz="950">
                <a:solidFill>
                  <a:srgbClr val="64748B"/>
                </a:solidFill>
              </a:rPr>
              <a:t>201 Created; JWT token &amp; profile returned  —  </a:t>
            </a:r>
            <a:r>
              <a:rPr b="1" sz="1000">
                <a:solidFill>
                  <a:srgbClr val="059669"/>
                </a:solidFill>
              </a:rPr>
              <a:t>[PASS]</a:t>
            </a:r>
          </a:p>
          <a:p>
            <a:pPr>
              <a:spcBef>
                <a:spcPts val="300"/>
              </a:spcBef>
            </a:pPr>
            <a:r>
              <a:rPr b="1" sz="1000">
                <a:solidFill>
                  <a:srgbClr val="1D4ED8"/>
                </a:solidFill>
              </a:rPr>
              <a:t>[TC-02] Duplicate Email Rejection: </a:t>
            </a:r>
            <a:r>
              <a:rPr sz="950">
                <a:solidFill>
                  <a:srgbClr val="64748B"/>
                </a:solidFill>
              </a:rPr>
              <a:t>400 Bad Request: Account already exists  —  </a:t>
            </a:r>
            <a:r>
              <a:rPr b="1" sz="1000">
                <a:solidFill>
                  <a:srgbClr val="059669"/>
                </a:solidFill>
              </a:rPr>
              <a:t>[PASS]</a:t>
            </a:r>
          </a:p>
          <a:p>
            <a:pPr>
              <a:spcBef>
                <a:spcPts val="300"/>
              </a:spcBef>
            </a:pPr>
            <a:r>
              <a:rPr b="1" sz="1000">
                <a:solidFill>
                  <a:srgbClr val="1D4ED8"/>
                </a:solidFill>
              </a:rPr>
              <a:t>[TC-08] Role Authorization Guard: </a:t>
            </a:r>
            <a:r>
              <a:rPr sz="950">
                <a:solidFill>
                  <a:srgbClr val="64748B"/>
                </a:solidFill>
              </a:rPr>
              <a:t>403 Forbidden: User role 'student' unauthorized  —  </a:t>
            </a:r>
            <a:r>
              <a:rPr b="1" sz="1000">
                <a:solidFill>
                  <a:srgbClr val="059669"/>
                </a:solidFill>
              </a:rPr>
              <a:t>[PASS]</a:t>
            </a:r>
          </a:p>
          <a:p>
            <a:pPr>
              <a:spcBef>
                <a:spcPts val="300"/>
              </a:spcBef>
            </a:pPr>
            <a:r>
              <a:rPr b="1" sz="1000">
                <a:solidFill>
                  <a:srgbClr val="1D4ED8"/>
                </a:solidFill>
              </a:rPr>
              <a:t>[TC-12] Atomic Seat Reservation: </a:t>
            </a:r>
            <a:r>
              <a:rPr sz="950">
                <a:solidFill>
                  <a:srgbClr val="64748B"/>
                </a:solidFill>
              </a:rPr>
              <a:t>201 Created; registeredCount atomically +1  —  </a:t>
            </a:r>
            <a:r>
              <a:rPr b="1" sz="1000">
                <a:solidFill>
                  <a:srgbClr val="059669"/>
                </a:solidFill>
              </a:rPr>
              <a:t>[PASS]</a:t>
            </a:r>
          </a:p>
          <a:p>
            <a:pPr>
              <a:spcBef>
                <a:spcPts val="300"/>
              </a:spcBef>
            </a:pPr>
            <a:r>
              <a:rPr b="1" sz="1000">
                <a:solidFill>
                  <a:srgbClr val="1D4ED8"/>
                </a:solidFill>
              </a:rPr>
              <a:t>[TC-13] Duplicate Event Booking: </a:t>
            </a:r>
            <a:r>
              <a:rPr sz="950">
                <a:solidFill>
                  <a:srgbClr val="64748B"/>
                </a:solidFill>
              </a:rPr>
              <a:t>400 Bad Request: Already registered for event  —  </a:t>
            </a:r>
            <a:r>
              <a:rPr b="1" sz="1000">
                <a:solidFill>
                  <a:srgbClr val="059669"/>
                </a:solidFill>
              </a:rPr>
              <a:t>[PASS]</a:t>
            </a:r>
          </a:p>
          <a:p>
            <a:pPr>
              <a:spcBef>
                <a:spcPts val="300"/>
              </a:spcBef>
            </a:pPr>
            <a:r>
              <a:rPr b="1" sz="1000">
                <a:solidFill>
                  <a:srgbClr val="1D4ED8"/>
                </a:solidFill>
              </a:rPr>
              <a:t>[TC-17] Cancellation &amp; Seat Return: </a:t>
            </a:r>
            <a:r>
              <a:rPr sz="950">
                <a:solidFill>
                  <a:srgbClr val="64748B"/>
                </a:solidFill>
              </a:rPr>
              <a:t>200 OK; registeredCount atomically -1  —  </a:t>
            </a:r>
            <a:r>
              <a:rPr b="1" sz="1000">
                <a:solidFill>
                  <a:srgbClr val="059669"/>
                </a:solidFill>
              </a:rPr>
              <a:t>[PASS]</a:t>
            </a:r>
          </a:p>
          <a:p>
            <a:pPr>
              <a:spcBef>
                <a:spcPts val="300"/>
              </a:spcBef>
            </a:pPr>
            <a:r>
              <a:rPr b="1" sz="1000">
                <a:solidFill>
                  <a:srgbClr val="1D4ED8"/>
                </a:solidFill>
              </a:rPr>
              <a:t>[TC-21] CSV Roster Streaming: </a:t>
            </a:r>
            <a:r>
              <a:rPr sz="950">
                <a:solidFill>
                  <a:srgbClr val="64748B"/>
                </a:solidFill>
              </a:rPr>
              <a:t>200 OK; text/csv file stream generated  —  </a:t>
            </a:r>
            <a:r>
              <a:rPr b="1" sz="1000">
                <a:solidFill>
                  <a:srgbClr val="059669"/>
                </a:solidFill>
              </a:rPr>
              <a:t>[PASS]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DEVOPS &amp; HOSTING</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GitHub Repository &amp; Deployment Architecture</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54480"/>
            <a:ext cx="4663440" cy="4389120"/>
          </a:xfrm>
          <a:prstGeom prst="rect">
            <a:avLst/>
          </a:prstGeom>
          <a:noFill/>
        </p:spPr>
        <p:txBody>
          <a:bodyPr wrap="square">
            <a:spAutoFit/>
          </a:bodyPr>
          <a:lstStyle/>
          <a:p>
            <a:pPr>
              <a:defRPr sz="1800" b="1">
                <a:solidFill>
                  <a:srgbClr val="1D4ED8"/>
                </a:solidFill>
              </a:defRPr>
            </a:pPr>
            <a:r>
              <a:t>GitHub Version Control</a:t>
            </a:r>
          </a:p>
          <a:p>
            <a:pPr>
              <a:spcBef>
                <a:spcPts val="800"/>
              </a:spcBef>
            </a:pPr>
            <a:r>
              <a:rPr b="1" sz="1200">
                <a:solidFill>
                  <a:srgbClr val="0F172A"/>
                </a:solidFill>
              </a:rPr>
              <a:t>• Repository URL:
</a:t>
            </a:r>
            <a:r>
              <a:rPr sz="1100">
                <a:solidFill>
                  <a:srgbClr val="1D4ED8"/>
                </a:solidFill>
              </a:rPr>
              <a:t>https://github.com/Tamil-k-iniyan/Campus-Event-Registration-</a:t>
            </a:r>
          </a:p>
          <a:p>
            <a:pPr>
              <a:spcBef>
                <a:spcPts val="800"/>
              </a:spcBef>
            </a:pPr>
            <a:r>
              <a:rPr b="1" sz="1200">
                <a:solidFill>
                  <a:srgbClr val="0F172A"/>
                </a:solidFill>
              </a:rPr>
              <a:t>• Branch &amp; Commits:
</a:t>
            </a:r>
            <a:r>
              <a:rPr sz="1100">
                <a:solidFill>
                  <a:srgbClr val="64748B"/>
                </a:solidFill>
              </a:rPr>
              <a:t>main branch with descriptive commits, structured .gitignore excluding secrets, and MIT License.</a:t>
            </a:r>
          </a:p>
          <a:p>
            <a:pPr>
              <a:spcBef>
                <a:spcPts val="800"/>
              </a:spcBef>
            </a:pPr>
            <a:r>
              <a:rPr b="1" sz="1200">
                <a:solidFill>
                  <a:srgbClr val="0F172A"/>
                </a:solidFill>
              </a:rPr>
              <a:t>• CI/CD Automation:
</a:t>
            </a:r>
            <a:r>
              <a:rPr sz="1100">
                <a:solidFill>
                  <a:srgbClr val="64748B"/>
                </a:solidFill>
              </a:rPr>
              <a:t>GitHub Actions workflow (.github/workflows/deploy.yml) automatically builds Vite frontend and publishes to GitHub Pages.</a:t>
            </a:r>
          </a:p>
          <a:p>
            <a:pPr>
              <a:spcBef>
                <a:spcPts val="800"/>
              </a:spcBef>
            </a:pPr>
            <a:r>
              <a:rPr b="1" sz="1200">
                <a:solidFill>
                  <a:srgbClr val="0F172A"/>
                </a:solidFill>
              </a:rPr>
              <a:t>• Academic Documentation:
</a:t>
            </a:r>
            <a:r>
              <a:rPr sz="1100">
                <a:solidFill>
                  <a:srgbClr val="64748B"/>
                </a:solidFill>
              </a:rPr>
              <a:t>Repository includes PROJECT_REPORT.docx, DATABASE_SCHEMA.md, API_DOCUMENTATION.md, and TEST_CASES.md.</a:t>
            </a:r>
          </a:p>
        </p:txBody>
      </p:sp>
      <p:sp>
        <p:nvSpPr>
          <p:cNvPr id="9" name="Rounded Rectangle 8"/>
          <p:cNvSpPr/>
          <p:nvPr/>
        </p:nvSpPr>
        <p:spPr>
          <a:xfrm>
            <a:off x="6217920" y="1371600"/>
            <a:ext cx="5212080" cy="47548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54480"/>
            <a:ext cx="4663440" cy="4389120"/>
          </a:xfrm>
          <a:prstGeom prst="rect">
            <a:avLst/>
          </a:prstGeom>
          <a:noFill/>
        </p:spPr>
        <p:txBody>
          <a:bodyPr wrap="square">
            <a:spAutoFit/>
          </a:bodyPr>
          <a:lstStyle/>
          <a:p>
            <a:pPr>
              <a:defRPr sz="1800" b="1">
                <a:solidFill>
                  <a:srgbClr val="059669"/>
                </a:solidFill>
              </a:defRPr>
            </a:pPr>
            <a:r>
              <a:t>Deployment &amp; Hosting Options</a:t>
            </a:r>
          </a:p>
          <a:p>
            <a:pPr>
              <a:spcBef>
                <a:spcPts val="800"/>
              </a:spcBef>
            </a:pPr>
            <a:r>
              <a:rPr b="1" sz="1200">
                <a:solidFill>
                  <a:srgbClr val="0F172A"/>
                </a:solidFill>
              </a:rPr>
              <a:t>• Live Frontend (GitHub Pages):
</a:t>
            </a:r>
            <a:r>
              <a:rPr sz="1100">
                <a:solidFill>
                  <a:srgbClr val="1D4ED8"/>
                </a:solidFill>
              </a:rPr>
              <a:t>https://tamil-k-iniyan.github.io/Campus-Event-Registration-/</a:t>
            </a:r>
          </a:p>
          <a:p>
            <a:pPr>
              <a:spcBef>
                <a:spcPts val="800"/>
              </a:spcBef>
            </a:pPr>
            <a:r>
              <a:rPr b="1" sz="1200">
                <a:solidFill>
                  <a:srgbClr val="0F172A"/>
                </a:solidFill>
              </a:rPr>
              <a:t>• Cloud API Hosting (Render):
</a:t>
            </a:r>
            <a:r>
              <a:rPr sz="1100">
                <a:solidFill>
                  <a:srgbClr val="64748B"/>
                </a:solidFill>
              </a:rPr>
              <a:t>Ready-to-deploy render.yaml blueprint configured for free Node.js service hosting.</a:t>
            </a:r>
          </a:p>
          <a:p>
            <a:pPr>
              <a:spcBef>
                <a:spcPts val="800"/>
              </a:spcBef>
            </a:pPr>
            <a:r>
              <a:rPr b="1" sz="1200">
                <a:solidFill>
                  <a:srgbClr val="0F172A"/>
                </a:solidFill>
              </a:rPr>
              <a:t>• Cloud Database (MongoDB Atlas):
</a:t>
            </a:r>
            <a:r>
              <a:rPr sz="1100">
                <a:solidFill>
                  <a:srgbClr val="64748B"/>
                </a:solidFill>
              </a:rPr>
              <a:t>Free MongoDB M0 Cluster connection string configured via MONGO_URI.</a:t>
            </a:r>
          </a:p>
          <a:p>
            <a:pPr>
              <a:spcBef>
                <a:spcPts val="800"/>
              </a:spcBef>
            </a:pPr>
            <a:r>
              <a:rPr b="1" sz="1200">
                <a:solidFill>
                  <a:srgbClr val="0F172A"/>
                </a:solidFill>
              </a:rPr>
              <a:t>• Local Execution Commands:
</a:t>
            </a:r>
            <a:r>
              <a:rPr sz="1100">
                <a:solidFill>
                  <a:srgbClr val="64748B"/>
                </a:solidFill>
              </a:rPr>
              <a:t>Backend: cd backend &amp;&amp; npm run dev (Port 5000)
Frontend: cd frontend &amp;&amp; npm run dev (Port 5173)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
            <a:ext cx="2560320" cy="25603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FFFFFF"/>
                </a:solidFill>
              </a:defRPr>
            </a:pPr>
            <a:r>
              <a:t>FUTURE WORK</a:t>
            </a:r>
          </a:p>
        </p:txBody>
      </p:sp>
      <p:sp>
        <p:nvSpPr>
          <p:cNvPr id="5" name="TextBox 4"/>
          <p:cNvSpPr txBox="1"/>
          <p:nvPr/>
        </p:nvSpPr>
        <p:spPr>
          <a:xfrm>
            <a:off x="731520" y="438912"/>
            <a:ext cx="10515600" cy="502920"/>
          </a:xfrm>
          <a:prstGeom prst="rect">
            <a:avLst/>
          </a:prstGeom>
          <a:noFill/>
        </p:spPr>
        <p:txBody>
          <a:bodyPr wrap="square">
            <a:spAutoFit/>
          </a:bodyPr>
          <a:lstStyle/>
          <a:p>
            <a:pPr>
              <a:defRPr sz="2200" b="1">
                <a:solidFill>
                  <a:srgbClr val="FFFFFF"/>
                </a:solidFill>
              </a:defRPr>
            </a:pPr>
            <a:r>
              <a:t>Future Enhancements: Roadmap for Production Scaling</a:t>
            </a:r>
          </a:p>
        </p:txBody>
      </p:sp>
      <p:sp>
        <p:nvSpPr>
          <p:cNvPr id="6" name="TextBox 5"/>
          <p:cNvSpPr txBox="1"/>
          <p:nvPr/>
        </p:nvSpPr>
        <p:spPr>
          <a:xfrm>
            <a:off x="731520" y="6492240"/>
            <a:ext cx="10698480" cy="274320"/>
          </a:xfrm>
          <a:prstGeom prst="rect">
            <a:avLst/>
          </a:prstGeom>
          <a:noFill/>
        </p:spPr>
        <p:txBody>
          <a:bodyPr wrap="none">
            <a:spAutoFit/>
          </a:bodyPr>
          <a:lstStyle/>
          <a:p>
            <a:pPr>
              <a:defRPr sz="950">
                <a:solidFill>
                  <a:srgbClr val="64748B"/>
                </a:solidFill>
              </a:defRPr>
            </a:pPr>
            <a:r>
              <a:t>Campus Event Registration and Management System  |  Karunya University  |  Tamilzhniyan K. (URK24CS1140)</a:t>
            </a:r>
          </a:p>
        </p:txBody>
      </p:sp>
      <p:sp>
        <p:nvSpPr>
          <p:cNvPr id="7" name="Rounded Rectangle 6"/>
          <p:cNvSpPr/>
          <p:nvPr/>
        </p:nvSpPr>
        <p:spPr>
          <a:xfrm>
            <a:off x="731520" y="137160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508760"/>
            <a:ext cx="4754880" cy="1188720"/>
          </a:xfrm>
          <a:prstGeom prst="rect">
            <a:avLst/>
          </a:prstGeom>
          <a:noFill/>
        </p:spPr>
        <p:txBody>
          <a:bodyPr wrap="square">
            <a:spAutoFit/>
          </a:bodyPr>
          <a:lstStyle/>
          <a:p>
            <a:pPr>
              <a:defRPr sz="1350" b="1">
                <a:solidFill>
                  <a:srgbClr val="1D4ED8"/>
                </a:solidFill>
              </a:defRPr>
            </a:pPr>
            <a:r>
              <a:t>1. Contactless QR-Code Ticketing</a:t>
            </a:r>
          </a:p>
          <a:p>
            <a:pPr>
              <a:spcBef>
                <a:spcPts val="400"/>
              </a:spcBef>
              <a:defRPr sz="1100">
                <a:solidFill>
                  <a:srgbClr val="64748B"/>
                </a:solidFill>
              </a:defRPr>
            </a:pPr>
            <a:r>
              <a:t>Generate signed QR code entry passes for confirmed students; provide a volunteer mobile scanner app for rapid venue admission.</a:t>
            </a:r>
          </a:p>
        </p:txBody>
      </p:sp>
      <p:sp>
        <p:nvSpPr>
          <p:cNvPr id="9" name="Rounded Rectangle 8"/>
          <p:cNvSpPr/>
          <p:nvPr/>
        </p:nvSpPr>
        <p:spPr>
          <a:xfrm>
            <a:off x="6217920" y="137160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508760"/>
            <a:ext cx="4754880" cy="1188720"/>
          </a:xfrm>
          <a:prstGeom prst="rect">
            <a:avLst/>
          </a:prstGeom>
          <a:noFill/>
        </p:spPr>
        <p:txBody>
          <a:bodyPr wrap="square">
            <a:spAutoFit/>
          </a:bodyPr>
          <a:lstStyle/>
          <a:p>
            <a:pPr>
              <a:defRPr sz="1350" b="1">
                <a:solidFill>
                  <a:srgbClr val="1D4ED8"/>
                </a:solidFill>
              </a:defRPr>
            </a:pPr>
            <a:r>
              <a:t>2. Automated Waitlist Queue</a:t>
            </a:r>
          </a:p>
          <a:p>
            <a:pPr>
              <a:spcBef>
                <a:spcPts val="400"/>
              </a:spcBef>
              <a:defRPr sz="1100">
                <a:solidFill>
                  <a:srgbClr val="64748B"/>
                </a:solidFill>
              </a:defRPr>
            </a:pPr>
            <a:r>
              <a:t>When capacity hits maximum, allow students to join an automated queue that promotes attendees when cancellations occur.</a:t>
            </a:r>
          </a:p>
        </p:txBody>
      </p:sp>
      <p:sp>
        <p:nvSpPr>
          <p:cNvPr id="11" name="Rounded Rectangle 10"/>
          <p:cNvSpPr/>
          <p:nvPr/>
        </p:nvSpPr>
        <p:spPr>
          <a:xfrm>
            <a:off x="731520" y="301752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154680"/>
            <a:ext cx="4754880" cy="1188720"/>
          </a:xfrm>
          <a:prstGeom prst="rect">
            <a:avLst/>
          </a:prstGeom>
          <a:noFill/>
        </p:spPr>
        <p:txBody>
          <a:bodyPr wrap="square">
            <a:spAutoFit/>
          </a:bodyPr>
          <a:lstStyle/>
          <a:p>
            <a:pPr>
              <a:defRPr sz="1350" b="1">
                <a:solidFill>
                  <a:srgbClr val="1D4ED8"/>
                </a:solidFill>
              </a:defRPr>
            </a:pPr>
            <a:r>
              <a:t>3. Automated Certificate Generation</a:t>
            </a:r>
          </a:p>
          <a:p>
            <a:pPr>
              <a:spcBef>
                <a:spcPts val="400"/>
              </a:spcBef>
              <a:defRPr sz="1100">
                <a:solidFill>
                  <a:srgbClr val="64748B"/>
                </a:solidFill>
              </a:defRPr>
            </a:pPr>
            <a:r>
              <a:t>Dynamically generate verifiable PDF participation and winner certificates stamped with unique verification hashes.</a:t>
            </a:r>
          </a:p>
        </p:txBody>
      </p:sp>
      <p:sp>
        <p:nvSpPr>
          <p:cNvPr id="13" name="Rounded Rectangle 12"/>
          <p:cNvSpPr/>
          <p:nvPr/>
        </p:nvSpPr>
        <p:spPr>
          <a:xfrm>
            <a:off x="6217920" y="301752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154680"/>
            <a:ext cx="4754880" cy="1188720"/>
          </a:xfrm>
          <a:prstGeom prst="rect">
            <a:avLst/>
          </a:prstGeom>
          <a:noFill/>
        </p:spPr>
        <p:txBody>
          <a:bodyPr wrap="square">
            <a:spAutoFit/>
          </a:bodyPr>
          <a:lstStyle/>
          <a:p>
            <a:pPr>
              <a:defRPr sz="1350" b="1">
                <a:solidFill>
                  <a:srgbClr val="1D4ED8"/>
                </a:solidFill>
              </a:defRPr>
            </a:pPr>
            <a:r>
              <a:t>4. Push &amp; Email Notifications</a:t>
            </a:r>
          </a:p>
          <a:p>
            <a:pPr>
              <a:spcBef>
                <a:spcPts val="400"/>
              </a:spcBef>
              <a:defRPr sz="1100">
                <a:solidFill>
                  <a:srgbClr val="64748B"/>
                </a:solidFill>
              </a:defRPr>
            </a:pPr>
            <a:r>
              <a:t>Integrate Nodemailer and web push notifications to alert students of registration confirmations and 24-hour event reminders.</a:t>
            </a:r>
          </a:p>
        </p:txBody>
      </p:sp>
      <p:sp>
        <p:nvSpPr>
          <p:cNvPr id="15" name="Rounded Rectangle 14"/>
          <p:cNvSpPr/>
          <p:nvPr/>
        </p:nvSpPr>
        <p:spPr>
          <a:xfrm>
            <a:off x="731520" y="466344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4800600"/>
            <a:ext cx="4754880" cy="1188720"/>
          </a:xfrm>
          <a:prstGeom prst="rect">
            <a:avLst/>
          </a:prstGeom>
          <a:noFill/>
        </p:spPr>
        <p:txBody>
          <a:bodyPr wrap="square">
            <a:spAutoFit/>
          </a:bodyPr>
          <a:lstStyle/>
          <a:p>
            <a:pPr>
              <a:defRPr sz="1350" b="1">
                <a:solidFill>
                  <a:srgbClr val="1D4ED8"/>
                </a:solidFill>
              </a:defRPr>
            </a:pPr>
            <a:r>
              <a:t>5. Academic Calendar Integration</a:t>
            </a:r>
          </a:p>
          <a:p>
            <a:pPr>
              <a:spcBef>
                <a:spcPts val="400"/>
              </a:spcBef>
              <a:defRPr sz="1100">
                <a:solidFill>
                  <a:srgbClr val="64748B"/>
                </a:solidFill>
              </a:defRPr>
            </a:pPr>
            <a:r>
              <a:t>Provide 1-click 'Add to Google Calendar' and Apple iCal (.ics) exports with automated schedule synchronization.</a:t>
            </a:r>
          </a:p>
        </p:txBody>
      </p:sp>
      <p:sp>
        <p:nvSpPr>
          <p:cNvPr id="17" name="Rounded Rectangle 16"/>
          <p:cNvSpPr/>
          <p:nvPr/>
        </p:nvSpPr>
        <p:spPr>
          <a:xfrm>
            <a:off x="6217920" y="4663440"/>
            <a:ext cx="5212080" cy="14630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800600"/>
            <a:ext cx="4754880" cy="1188720"/>
          </a:xfrm>
          <a:prstGeom prst="rect">
            <a:avLst/>
          </a:prstGeom>
          <a:noFill/>
        </p:spPr>
        <p:txBody>
          <a:bodyPr wrap="square">
            <a:spAutoFit/>
          </a:bodyPr>
          <a:lstStyle/>
          <a:p>
            <a:pPr>
              <a:defRPr sz="1350" b="1">
                <a:solidFill>
                  <a:srgbClr val="1D4ED8"/>
                </a:solidFill>
              </a:defRPr>
            </a:pPr>
            <a:r>
              <a:t>6. Advanced Participation Analytics</a:t>
            </a:r>
          </a:p>
          <a:p>
            <a:pPr>
              <a:spcBef>
                <a:spcPts val="400"/>
              </a:spcBef>
              <a:defRPr sz="1100">
                <a:solidFill>
                  <a:srgbClr val="64748B"/>
                </a:solidFill>
              </a:defRPr>
            </a:pPr>
            <a:r>
              <a:t>Provide departmental Dean reports tracking student engagement trends across academic semesters.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prstGeom>
          <a:solidFill>
            <a:srgbClr val="1E293B"/>
          </a:solidFill>
          <a:ln w="12700">
            <a:solidFill>
              <a:srgbClr val="1D4ED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280160"/>
            <a:ext cx="8869680" cy="4297680"/>
          </a:xfrm>
          <a:prstGeom prst="rect">
            <a:avLst/>
          </a:prstGeom>
          <a:noFill/>
        </p:spPr>
        <p:txBody>
          <a:bodyPr wrap="square">
            <a:spAutoFit/>
          </a:bodyPr>
          <a:lstStyle/>
          <a:p>
            <a:pPr>
              <a:defRPr sz="2400" b="1">
                <a:solidFill>
                  <a:srgbClr val="38BDF8"/>
                </a:solidFill>
              </a:defRPr>
            </a:pPr>
            <a:r>
              <a:t>Project Conclusion</a:t>
            </a:r>
          </a:p>
          <a:p>
            <a:pPr>
              <a:spcBef>
                <a:spcPts val="600"/>
              </a:spcBef>
              <a:defRPr sz="1250">
                <a:solidFill>
                  <a:srgbClr val="FFFFFF"/>
                </a:solidFill>
              </a:defRPr>
            </a:pPr>
            <a:r>
              <a:t>✔  Successfully delivered a complete, professional, full-stack campus event management web application.</a:t>
            </a:r>
          </a:p>
          <a:p>
            <a:pPr>
              <a:spcBef>
                <a:spcPts val="600"/>
              </a:spcBef>
              <a:defRPr sz="1250">
                <a:solidFill>
                  <a:srgbClr val="FFFFFF"/>
                </a:solidFill>
              </a:defRPr>
            </a:pPr>
            <a:r>
              <a:t>✔  Eliminated event overbooking through atomic concurrency-safe seat reservation algorithms in MongoDB.</a:t>
            </a:r>
          </a:p>
          <a:p>
            <a:pPr>
              <a:spcBef>
                <a:spcPts val="600"/>
              </a:spcBef>
              <a:defRPr sz="1250">
                <a:solidFill>
                  <a:srgbClr val="FFFFFF"/>
                </a:solidFill>
              </a:defRPr>
            </a:pPr>
            <a:r>
              <a:t>✔  Prevented duplicate registrations using database-level unique compound indexing ({ student: 1, event: 1 }).</a:t>
            </a:r>
          </a:p>
          <a:p>
            <a:pPr>
              <a:spcBef>
                <a:spcPts val="600"/>
              </a:spcBef>
              <a:defRPr sz="1250">
                <a:solidFill>
                  <a:srgbClr val="FFFFFF"/>
                </a:solidFill>
              </a:defRPr>
            </a:pPr>
            <a:r>
              <a:t>✔  Empowered faculty with live analytics dashboards, capacity utilization progress bars, and instant CSV exports.</a:t>
            </a:r>
          </a:p>
          <a:p>
            <a:pPr>
              <a:spcBef>
                <a:spcPts val="600"/>
              </a:spcBef>
              <a:defRPr sz="1250">
                <a:solidFill>
                  <a:srgbClr val="FFFFFF"/>
                </a:solidFill>
              </a:defRPr>
            </a:pPr>
            <a:r>
              <a:t>✔  Validated 100% of API endpoints through automated integration testing and rigorous input sanitization.</a:t>
            </a:r>
          </a:p>
          <a:p>
            <a:pPr algn="ctr">
              <a:spcBef>
                <a:spcPts val="1800"/>
              </a:spcBef>
              <a:defRPr sz="2800" b="1">
                <a:solidFill>
                  <a:srgbClr val="FFFFFF"/>
                </a:solidFill>
              </a:defRPr>
            </a:pPr>
            <a:r>
              <a:t>THANK YOU!</a:t>
            </a:r>
          </a:p>
          <a:p>
            <a:pPr algn="ctr">
              <a:defRPr sz="1300" b="1">
                <a:solidFill>
                  <a:srgbClr val="94A3B8"/>
                </a:solidFill>
              </a:defRPr>
            </a:pPr>
            <a:r>
              <a:t>Questions &amp; Answers  |  Tamilzhniyan K.  |  URK24CS1140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